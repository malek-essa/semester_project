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D380A-B25C-4554-9D12-6A864851EAA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53628-D422-490A-B670-D481D4DAF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F2E77-788A-9C1E-A253-E519B641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4A005-A4AE-48B5-9B72-AC59F9D0C9F3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498E3-ED2D-6826-7063-38EB8891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161BF-6988-026C-DC94-2566B9B7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2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47E8-ECBE-386A-59D3-99FCD9C8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1C658-EDE0-BA68-5E59-5A8AE19B7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6B6D6-EA20-5153-F9E6-69BE378DA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D8551-6A6D-0059-4C2D-C744DB80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FA687-E925-6CDC-8C7E-7C88CD08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9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5B58-257B-3360-2D4E-3A189798C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B5218-484E-2B62-9425-B97EE0F44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002CB-4614-0299-EDD5-8B440101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454-2FB9-4C8F-B182-7B2E5743343C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D11BC-DD39-8C40-2266-8449E8E2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50166-28D8-2DDD-636F-FD317779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6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72B2-850D-2F4C-6716-85D5B2D7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800FC-42E7-C5BA-C8AC-E0FEED1D1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F8609-C937-CBCC-AEB9-BF37DF681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492CB-5016-8804-EC3D-0E23BC9D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650C-01B7-4756-A73F-6F4EA1E5431E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F2CA0-62A7-3F15-B164-0AEED105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D77B4-97C3-0109-492A-4CB1B065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7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0D8A-FA99-1027-FEC9-8FDFF362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42391-9774-2E4C-C170-3FE9774B8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1A0E3-5607-927A-7181-9A807B9F4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8725F-934A-682D-D056-CDE6C388B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43AAD-ACFD-0BD4-4A71-BA3ECBF99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2CC47-F10F-8A91-81CA-F3A85726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1D95-9BF9-4CE1-A0EA-90FF297D19D0}" type="datetime1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C06B0-830C-FBEE-FECE-C6406EF9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BB5166-40BA-5202-2D38-1BA48B8A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0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52DB-965F-D567-974C-4831D0273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18B86-2CE2-5395-B958-F12A1003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80EBF-8A8A-40F0-86A7-7286F440E0F3}" type="datetime1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887C2-51F3-E8A5-28C0-2C405A47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BC180-A612-3483-A0E1-6AB31CA0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2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F26E7-965A-6AC1-351E-3BF6ACBD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7337-48F7-4AF7-9A31-C231AA9DABEB}" type="datetime1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F3A08-7728-7EE4-12FE-99584A06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1E605-1894-7F38-96D7-5711BA10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3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D52C-F553-7253-3DE6-B294241B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6EE6A-61D8-D2C7-AC2A-BAD820BAC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4D0E1-40CD-A415-635E-7B576877B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D09A8-16DE-895E-2FE5-490F44A7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0AB9-8616-4B55-B544-8181381708AB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81FF2-B792-3CF2-49A0-9DAB4221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FA9E5-F4BF-CDB1-5103-4CD6FA63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7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2051-2331-215D-2FDD-370D7A88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30711D-48C9-0C54-AC74-04A3AAD45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EC347-4A26-72BD-E2FC-29DFEC1F7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5EAAE-4733-3414-1943-04DD07D9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D518-531C-4414-B657-2CD37CCA6B63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23DCB-8125-80EF-6294-84DE2F57B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398A8-CDCE-094C-42A2-3D874E3B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6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48C1-0408-D8AF-69A2-588425BC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A3F95-D448-1D26-F510-A0FB77EC6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9917-0033-D989-92E8-CE98F113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7074-5979-461C-BB0D-F24AD7AEA7D7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0D59D-1B12-2463-BE4C-9D8702C2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4DA28-4071-592C-92AE-FA0CA34D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84654F-0ECF-8954-9B9E-9F1990569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3D16A-A760-D48C-1E66-0E3F9C8F4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5E059-1E45-81B2-2FD4-F0902482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A7B2-F8F1-4C99-9A58-0619E9B4236C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B7F42-4E93-CA7A-A3D6-1E12EACC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4C34D-6493-F571-4B38-C06CB99F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C9861-6315-7D19-1FC2-C18236A7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1EFFF-1B3C-0223-E81F-FF7E22B49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E9D6D-05BC-2BD6-8D4D-8631CA54E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9F99F-ECCB-4E1D-B4DE-BB12197DD00B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39DBC-854C-A039-E3A7-5A146D3F6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828-C825-6DB3-1130-384DF2FBA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8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7FEE-FA9B-4752-4823-C4FB293F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DB13-F674-44AD-AADD-3DB03F0B479D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86990-713E-6624-3539-F3498672D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 dirty="0" err="1"/>
              <a:t>مشرو</a:t>
            </a:r>
            <a:r>
              <a:rPr lang="ar-SY" dirty="0"/>
              <a:t>ع تخرج 1</a:t>
            </a:r>
            <a:r>
              <a:rPr lang="ar-LB" dirty="0"/>
              <a:t>....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66B69-87F5-E43F-D7AA-28CC8FE5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1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D43F25-156B-0F51-78BE-D80EA42C9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23306673" cy="78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Picture 1" descr="SPU.png">
            <a:extLst>
              <a:ext uri="{FF2B5EF4-FFF2-40B4-BE49-F238E27FC236}">
                <a16:creationId xmlns:a16="http://schemas.microsoft.com/office/drawing/2014/main" id="{6838853A-A59D-CC41-A6E7-6C8A67561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096" y="683551"/>
            <a:ext cx="1878398" cy="998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DDF96A-B8FE-C33B-E970-674E4D479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1" y="72255"/>
            <a:ext cx="23306673" cy="81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ar-SA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كليــــــة ...............................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ar-A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قســــــــم ............................</a:t>
            </a:r>
            <a:r>
              <a:rPr kumimoji="0" lang="ar-SA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ar-SA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ar-SA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kumimoji="0" lang="ar-SA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0AFF7F-9518-8FB1-FD33-81E9381B82A4}"/>
              </a:ext>
            </a:extLst>
          </p:cNvPr>
          <p:cNvSpPr txBox="1"/>
          <p:nvPr/>
        </p:nvSpPr>
        <p:spPr>
          <a:xfrm>
            <a:off x="7690340" y="887863"/>
            <a:ext cx="35895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buNone/>
              <a:tabLst>
                <a:tab pos="6343650" algn="r"/>
              </a:tabLst>
            </a:pPr>
            <a:r>
              <a:rPr lang="ar-SA" sz="2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كليــــــة </a:t>
            </a:r>
            <a:r>
              <a:rPr lang="ar-SY" sz="2000" kern="1400" spc="-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هندسة الذكاء </a:t>
            </a:r>
            <a:r>
              <a:rPr lang="ar-SY" sz="2000" kern="1400" spc="-5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الإصطناعي</a:t>
            </a:r>
            <a:r>
              <a:rPr lang="ar-SA" sz="2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kern="1400" spc="-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buNone/>
            </a:pPr>
            <a:r>
              <a:rPr lang="ar-A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قســــــــم </a:t>
            </a:r>
            <a:r>
              <a:rPr lang="ar-SY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هندسة البرمجيات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84D123-0AC8-2EF9-C2A1-57BE096CA81B}"/>
              </a:ext>
            </a:extLst>
          </p:cNvPr>
          <p:cNvSpPr txBox="1"/>
          <p:nvPr/>
        </p:nvSpPr>
        <p:spPr>
          <a:xfrm>
            <a:off x="2154514" y="2319761"/>
            <a:ext cx="8127546" cy="773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ar-SA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عنوان المشروع</a:t>
            </a:r>
            <a:endParaRPr lang="ar-SY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ar-SY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المساعد الصحي الذكي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88F4C9-AB38-D55C-DB49-C51BEA5307B8}"/>
              </a:ext>
            </a:extLst>
          </p:cNvPr>
          <p:cNvSpPr txBox="1"/>
          <p:nvPr/>
        </p:nvSpPr>
        <p:spPr>
          <a:xfrm>
            <a:off x="1524698" y="3332034"/>
            <a:ext cx="9387178" cy="2763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ar-SA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إعداد الطلاب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ar-L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             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                       </a:t>
            </a:r>
            <a:r>
              <a:rPr lang="ar-L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      </a:t>
            </a:r>
            <a:r>
              <a:rPr lang="ar-SY" sz="1600" dirty="0"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مالك أنس عيسى</a:t>
            </a:r>
            <a:r>
              <a:rPr lang="ar-L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	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                                         </a:t>
            </a:r>
            <a:r>
              <a:rPr lang="ar-SY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مي أحمد سمير الزعبي</a:t>
            </a:r>
            <a:r>
              <a:rPr lang="ar-SA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				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ar-AE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ar-SA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إشــراف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ar-L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        </a:t>
            </a:r>
            <a:r>
              <a:rPr lang="ar-SY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   </a:t>
            </a:r>
            <a:r>
              <a:rPr lang="ar-L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       </a:t>
            </a:r>
            <a:r>
              <a:rPr lang="ar-SY" sz="1600" dirty="0" err="1"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د.أكرم</a:t>
            </a:r>
            <a:r>
              <a:rPr lang="ar-SY" sz="1600" dirty="0"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مسوح</a:t>
            </a:r>
            <a:r>
              <a:rPr lang="ar-SA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		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algn="ctr" rtl="1">
              <a:buNone/>
            </a:pPr>
            <a:r>
              <a:rPr lang="ar-LB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2026</a:t>
            </a:r>
            <a:r>
              <a:rPr lang="ar-SA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-  </a:t>
            </a:r>
            <a:r>
              <a:rPr lang="ar-LB" b="1" u="sng" dirty="0"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تشرين ثاني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44860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E7FC2-E2D6-AA88-BA76-78269905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C0DA9-B68A-02B5-F06B-4E1F163F6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 dirty="0"/>
              <a:t>مشروع</a:t>
            </a:r>
            <a:r>
              <a:rPr lang="ar-SY" dirty="0"/>
              <a:t> تخرج 1</a:t>
            </a:r>
            <a:r>
              <a:rPr lang="ar-LB" dirty="0"/>
              <a:t>....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E9A2F-3005-24AC-8E5D-EB352139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FC31A-9169-D8D3-0832-75487FE0E92E}"/>
              </a:ext>
            </a:extLst>
          </p:cNvPr>
          <p:cNvSpPr txBox="1"/>
          <p:nvPr/>
        </p:nvSpPr>
        <p:spPr>
          <a:xfrm>
            <a:off x="969264" y="475488"/>
            <a:ext cx="10305288" cy="118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07000"/>
              </a:lnSpc>
              <a:spcBef>
                <a:spcPts val="200"/>
              </a:spcBef>
              <a:buNone/>
            </a:pPr>
            <a:r>
              <a:rPr lang="ar-SA" sz="24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أهمية المشروع</a:t>
            </a:r>
            <a:endParaRPr lang="en-US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L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D97FD79D-4121-7CB4-8A0B-1133217F288F}"/>
              </a:ext>
            </a:extLst>
          </p:cNvPr>
          <p:cNvSpPr txBox="1"/>
          <p:nvPr/>
        </p:nvSpPr>
        <p:spPr>
          <a:xfrm>
            <a:off x="2547815" y="1725361"/>
            <a:ext cx="8026399" cy="245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</a:pPr>
            <a:r>
              <a:rPr lang="ar-SY" sz="2000" dirty="0"/>
              <a:t>في ظل التطور التكنولوجي السريع أصبحت الهواتف الذكية جزءً لا يتجزأ من حياتنا اليومية .</a:t>
            </a:r>
            <a:br>
              <a:rPr lang="ar-SY" sz="2000" dirty="0"/>
            </a:br>
            <a:r>
              <a:rPr lang="ar-SY" sz="2000" dirty="0"/>
              <a:t>يركز مشروعنا على بناء مساعد صحي ذكي مخصص لتتبع العادات اليومية الأساسية لما لها من تأثير مباشر على النشاط الذهني والبدني ، يستهدف مشروعنا شريحة واسعة من المستخدمين عامة والطلاب خاصة لزيادة الإنتاج الأكاديمي</a:t>
            </a:r>
          </a:p>
        </p:txBody>
      </p:sp>
    </p:spTree>
    <p:extLst>
      <p:ext uri="{BB962C8B-B14F-4D97-AF65-F5344CB8AC3E}">
        <p14:creationId xmlns:p14="http://schemas.microsoft.com/office/powerpoint/2010/main" val="2143561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F87B-DB91-279C-A082-B3653333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2DDC9-5CB8-7BD5-C787-157F1291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 dirty="0"/>
              <a:t>مشروع </a:t>
            </a:r>
            <a:r>
              <a:rPr lang="ar-SY" dirty="0"/>
              <a:t>تخرج 1</a:t>
            </a:r>
            <a:r>
              <a:rPr lang="ar-LB" dirty="0"/>
              <a:t>....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B69BB-1E0D-E2FB-517B-56C9C8D1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D8816-9B85-AB6D-1909-13902986402F}"/>
              </a:ext>
            </a:extLst>
          </p:cNvPr>
          <p:cNvSpPr txBox="1"/>
          <p:nvPr/>
        </p:nvSpPr>
        <p:spPr>
          <a:xfrm>
            <a:off x="4437126" y="21767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أهداف المشروع</a:t>
            </a:r>
            <a:endParaRPr lang="en-US" sz="2400" b="1" dirty="0">
              <a:solidFill>
                <a:srgbClr val="2F5496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ECB7CE9E-2B42-A792-30FD-5167A063E8D8}"/>
              </a:ext>
            </a:extLst>
          </p:cNvPr>
          <p:cNvSpPr txBox="1"/>
          <p:nvPr/>
        </p:nvSpPr>
        <p:spPr>
          <a:xfrm>
            <a:off x="109415" y="1280562"/>
            <a:ext cx="11598031" cy="3581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يهدف هذا المشروع بشكل رئيسي إلى تصميم وتطوير تطبيق "مساعد صحي ذكي" يسهم في تعزيز الوعي الصحي وبناء عادات إيجابية. وتتفرع من هذا الهدف الأهداف التالية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: </a:t>
            </a:r>
          </a:p>
          <a:p>
            <a:pPr marL="0" marR="0" lvl="0" indent="0" algn="r" defTabSz="914400" rtl="1" eaLnBrk="1" fontAlgn="auto" latinLnBrk="0" hangingPunct="1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ar-S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تتبع العادات الحيوية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</a:t>
            </a: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توفير واجهة سهلة الاستخدام لتسجيل ومتابعة </a:t>
            </a:r>
            <a:r>
              <a:rPr kumimoji="0" lang="ar-SY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العادات الصحية اليومية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r" defTabSz="914400" rtl="1" eaLnBrk="1" fontAlgn="auto" latinLnBrk="0" hangingPunct="1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ar-S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التحليل والتنبيه الذكي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</a:t>
            </a: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معالجة بيانات المستخدم لتقديم إشعارات </a:t>
            </a:r>
            <a:r>
              <a:rPr kumimoji="0" lang="ar-SA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وتذكيرات</a:t>
            </a: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 مخصصة في أوقات مناسبة للمساعدة في الالتزام بالروتين الصحي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r" defTabSz="914400" rtl="1" eaLnBrk="1" fontAlgn="auto" latinLnBrk="0" hangingPunct="1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ar-S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التحفيز المستدام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</a:t>
            </a: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تصميم تجربة مستخدم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(UX) </a:t>
            </a: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تشجع على الاستمرارية وتقلل من احتمالية التخلي عن استخدام التطبيق بعد فترة قصيرة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r" defTabSz="914400" rtl="1" eaLnBrk="1" fontAlgn="auto" latinLnBrk="0" hangingPunct="1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ar-S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توفير تقارير دورية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</a:t>
            </a: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عرض ملخصات أسبوعية أو شهرية توضح مدى تقدم المستخدم وتأثير التزامه على نشاطه العام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373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E7ED3-C13B-D163-23FA-3ACDDB15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8B2C3-8337-C2D2-EA88-9E4BC9F9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 dirty="0"/>
              <a:t>مشروع </a:t>
            </a:r>
            <a:r>
              <a:rPr lang="ar-SY" dirty="0"/>
              <a:t>تخرج 1</a:t>
            </a:r>
            <a:r>
              <a:rPr lang="ar-LB" dirty="0"/>
              <a:t>....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1E66-EBB7-BF9F-40E8-B58F9CB7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444CC-9A95-8B29-7BB5-90CFC2E2D96D}"/>
              </a:ext>
            </a:extLst>
          </p:cNvPr>
          <p:cNvSpPr txBox="1"/>
          <p:nvPr/>
        </p:nvSpPr>
        <p:spPr>
          <a:xfrm>
            <a:off x="5141214" y="463187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SA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الدراسات</a:t>
            </a:r>
            <a:r>
              <a:rPr lang="ar-SA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المرجعية والأعمال السابقة</a:t>
            </a:r>
            <a:endParaRPr lang="en-US" sz="2400" b="1" dirty="0">
              <a:solidFill>
                <a:srgbClr val="2F5496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10AC7C-5174-419E-098A-FE3216714187}"/>
              </a:ext>
            </a:extLst>
          </p:cNvPr>
          <p:cNvSpPr txBox="1"/>
          <p:nvPr/>
        </p:nvSpPr>
        <p:spPr>
          <a:xfrm>
            <a:off x="252984" y="1772282"/>
            <a:ext cx="11100816" cy="3489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ar-SA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الدراسة الأولى: </a:t>
            </a:r>
            <a:r>
              <a:rPr kumimoji="0" lang="ar-S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أنظمة تتبع جودة النوم مثل تطبيق (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Sleep Cycle</a:t>
            </a:r>
            <a:r>
              <a:rPr kumimoji="0" lang="ar-S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)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200000"/>
              </a:lnSpc>
              <a:spcAft>
                <a:spcPts val="800"/>
              </a:spcAft>
            </a:pPr>
            <a:r>
              <a:rPr lang="ar-SA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الدراسة الثانية: </a:t>
            </a:r>
            <a:r>
              <a:rPr lang="ar-SA" sz="1600" b="1" dirty="0">
                <a:latin typeface="Calibri" panose="020F0502020204030204" pitchFamily="34" charset="0"/>
                <a:ea typeface="Calibri" panose="020F0502020204030204" pitchFamily="34" charset="0"/>
              </a:rPr>
              <a:t>تطبيقات التذكير بشرب الماء مثل (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WaterMinder</a:t>
            </a:r>
            <a:r>
              <a:rPr lang="ar-SA" sz="1600" b="1" dirty="0">
                <a:latin typeface="Calibri" panose="020F0502020204030204" pitchFamily="34" charset="0"/>
                <a:ea typeface="Calibri" panose="020F0502020204030204" pitchFamily="34" charset="0"/>
              </a:rPr>
              <a:t> )</a:t>
            </a:r>
            <a:endParaRPr lang="en-US" sz="1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200000"/>
              </a:lnSpc>
              <a:spcAft>
                <a:spcPts val="800"/>
              </a:spcAft>
            </a:pPr>
            <a:r>
              <a:rPr lang="ar-SA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الدراسة الثالثة: </a:t>
            </a:r>
            <a:r>
              <a:rPr lang="ar-SA" sz="1600" b="1" dirty="0">
                <a:latin typeface="Calibri" panose="020F0502020204030204" pitchFamily="34" charset="0"/>
                <a:ea typeface="Calibri" panose="020F0502020204030204" pitchFamily="34" charset="0"/>
              </a:rPr>
              <a:t>الأنظمة الصحية الشاملة مثل </a:t>
            </a:r>
            <a:r>
              <a:rPr lang="ar-SY" sz="1600" b="1" dirty="0">
                <a:latin typeface="Calibri" panose="020F0502020204030204" pitchFamily="34" charset="0"/>
                <a:ea typeface="Calibri" panose="020F0502020204030204" pitchFamily="34" charset="0"/>
              </a:rPr>
              <a:t>(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MyFitnessPal</a:t>
            </a:r>
            <a:r>
              <a:rPr lang="ar-SY" sz="1600" b="1" dirty="0">
                <a:latin typeface="Calibri" panose="020F0502020204030204" pitchFamily="34" charset="0"/>
                <a:ea typeface="Calibri" panose="020F0502020204030204" pitchFamily="34" charset="0"/>
              </a:rPr>
              <a:t> ) أو (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Habitica</a:t>
            </a:r>
            <a:r>
              <a:rPr lang="ar-SY" sz="1600" b="1" dirty="0">
                <a:latin typeface="Calibri" panose="020F0502020204030204" pitchFamily="34" charset="0"/>
                <a:ea typeface="Calibri" panose="020F0502020204030204" pitchFamily="34" charset="0"/>
              </a:rPr>
              <a:t> )</a:t>
            </a:r>
            <a:r>
              <a:rPr lang="ar-SA" sz="1600" dirty="0"/>
              <a:t> </a:t>
            </a:r>
            <a:endParaRPr lang="en-US" sz="1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200000"/>
              </a:lnSpc>
              <a:spcAft>
                <a:spcPts val="800"/>
              </a:spcAft>
            </a:pPr>
            <a:r>
              <a:rPr lang="ar-SA" sz="1600" b="1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الدراسة</a:t>
            </a:r>
            <a:r>
              <a:rPr lang="ar-SA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الرابعة</a:t>
            </a:r>
            <a:r>
              <a:rPr lang="ar-LB" sz="1600" b="1" kern="100" dirty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r>
              <a:rPr lang="ar-SY" sz="1600" b="1" kern="100" dirty="0">
                <a:latin typeface="Calibri" panose="020F0502020204030204" pitchFamily="34" charset="0"/>
                <a:ea typeface="Calibri" panose="020F0502020204030204" pitchFamily="34" charset="0"/>
              </a:rPr>
              <a:t> تطبيقات</a:t>
            </a:r>
            <a:r>
              <a:rPr lang="ar-LB" sz="1600" b="1" kern="1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ar-SY" sz="1600" dirty="0"/>
              <a:t>تقديم الخطط الغذائية الجاهزة مثل (</a:t>
            </a:r>
            <a:r>
              <a:rPr lang="ar-SY" sz="1600" dirty="0" err="1"/>
              <a:t>Yazio</a:t>
            </a:r>
            <a:r>
              <a:rPr lang="ar-SY" sz="1600" dirty="0"/>
              <a:t>)</a:t>
            </a:r>
            <a:endParaRPr lang="en-US" sz="1600" dirty="0"/>
          </a:p>
          <a:p>
            <a:pPr algn="r" rtl="1">
              <a:lnSpc>
                <a:spcPct val="200000"/>
              </a:lnSpc>
              <a:spcAft>
                <a:spcPts val="800"/>
              </a:spcAft>
            </a:pPr>
            <a:r>
              <a:rPr lang="ar-SA" sz="1600" b="1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الدراسة الخامسة:</a:t>
            </a:r>
            <a:r>
              <a:rPr lang="ar-SY" sz="1600" b="1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تطبيقات عرض تقارير تفصيلية ورسوم بيانية لتحليل أداء وسلوك المستخدم (</a:t>
            </a:r>
            <a:r>
              <a:rPr lang="ar-SY" sz="1600" dirty="0" err="1"/>
              <a:t>Fitbit</a:t>
            </a:r>
            <a:r>
              <a:rPr lang="ar-SY" sz="1600" b="1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  <a:p>
            <a:pPr algn="r" rtl="1">
              <a:lnSpc>
                <a:spcPct val="200000"/>
              </a:lnSpc>
              <a:spcAft>
                <a:spcPts val="800"/>
              </a:spcAft>
            </a:pPr>
            <a:r>
              <a:rPr lang="ar-SA" sz="1600" b="1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الدراسة السادسة:</a:t>
            </a:r>
            <a:r>
              <a:rPr lang="ar-SY" sz="1600" b="1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توليد خطط أسبوعية بناء على تفضيلات المستخدم (</a:t>
            </a:r>
            <a:r>
              <a:rPr lang="ar-SY" sz="1600" dirty="0" err="1"/>
              <a:t>Eat</a:t>
            </a:r>
            <a:r>
              <a:rPr lang="ar-SY" sz="1600" dirty="0"/>
              <a:t> </a:t>
            </a:r>
            <a:r>
              <a:rPr lang="ar-SY" sz="1600" dirty="0" err="1"/>
              <a:t>This</a:t>
            </a:r>
            <a:r>
              <a:rPr lang="ar-SY" sz="1600" dirty="0"/>
              <a:t> </a:t>
            </a:r>
            <a:r>
              <a:rPr lang="ar-SY" sz="1600" dirty="0" err="1"/>
              <a:t>Much</a:t>
            </a:r>
            <a:r>
              <a:rPr lang="ar-SY" sz="1600" b="1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sz="16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34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407DD-A187-47D0-F7D0-D8EFECD8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B85F1-EC29-F285-CD6F-1FC6E3D18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 dirty="0"/>
              <a:t>مشروع</a:t>
            </a:r>
            <a:r>
              <a:rPr lang="ar-SY" dirty="0"/>
              <a:t> تخرج 1</a:t>
            </a:r>
            <a:r>
              <a:rPr lang="ar-LB" dirty="0"/>
              <a:t>....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B7830-AE76-FA38-8FDC-9C99C8C6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6949F-FA28-8B4A-2632-3CC4A0938BD9}"/>
              </a:ext>
            </a:extLst>
          </p:cNvPr>
          <p:cNvSpPr txBox="1"/>
          <p:nvPr/>
        </p:nvSpPr>
        <p:spPr>
          <a:xfrm>
            <a:off x="4766310" y="444899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SA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مقارنة الدراسات السابقة</a:t>
            </a:r>
            <a:endParaRPr lang="en-US" sz="2400" b="1" dirty="0">
              <a:solidFill>
                <a:srgbClr val="2F5496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253116-991C-3890-D327-09FA3E701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212670"/>
              </p:ext>
            </p:extLst>
          </p:nvPr>
        </p:nvGraphicFramePr>
        <p:xfrm>
          <a:off x="2123831" y="1168372"/>
          <a:ext cx="8310120" cy="49547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2024">
                  <a:extLst>
                    <a:ext uri="{9D8B030D-6E8A-4147-A177-3AD203B41FA5}">
                      <a16:colId xmlns:a16="http://schemas.microsoft.com/office/drawing/2014/main" val="1105021934"/>
                    </a:ext>
                  </a:extLst>
                </a:gridCol>
                <a:gridCol w="1662024">
                  <a:extLst>
                    <a:ext uri="{9D8B030D-6E8A-4147-A177-3AD203B41FA5}">
                      <a16:colId xmlns:a16="http://schemas.microsoft.com/office/drawing/2014/main" val="2259850809"/>
                    </a:ext>
                  </a:extLst>
                </a:gridCol>
                <a:gridCol w="1662024">
                  <a:extLst>
                    <a:ext uri="{9D8B030D-6E8A-4147-A177-3AD203B41FA5}">
                      <a16:colId xmlns:a16="http://schemas.microsoft.com/office/drawing/2014/main" val="3655253972"/>
                    </a:ext>
                  </a:extLst>
                </a:gridCol>
                <a:gridCol w="1662024">
                  <a:extLst>
                    <a:ext uri="{9D8B030D-6E8A-4147-A177-3AD203B41FA5}">
                      <a16:colId xmlns:a16="http://schemas.microsoft.com/office/drawing/2014/main" val="661933098"/>
                    </a:ext>
                  </a:extLst>
                </a:gridCol>
                <a:gridCol w="1662024">
                  <a:extLst>
                    <a:ext uri="{9D8B030D-6E8A-4147-A177-3AD203B41FA5}">
                      <a16:colId xmlns:a16="http://schemas.microsoft.com/office/drawing/2014/main" val="2050600813"/>
                    </a:ext>
                  </a:extLst>
                </a:gridCol>
              </a:tblGrid>
              <a:tr h="721235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200">
                          <a:effectLst/>
                        </a:rPr>
                        <a:t>الدراسة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200">
                          <a:effectLst/>
                        </a:rPr>
                        <a:t>التقنيات المستخدمة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200" dirty="0">
                          <a:effectLst/>
                        </a:rPr>
                        <a:t>ميزة1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200">
                          <a:effectLst/>
                        </a:rPr>
                        <a:t>ميزة2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200" dirty="0">
                          <a:effectLst/>
                        </a:rPr>
                        <a:t>نقاط القوة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1041404"/>
                  </a:ext>
                </a:extLst>
              </a:tr>
              <a:tr h="70557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dirty="0" err="1"/>
                        <a:t>Eat</a:t>
                      </a:r>
                      <a:r>
                        <a:rPr lang="ar-SY" sz="1100" dirty="0"/>
                        <a:t> </a:t>
                      </a:r>
                      <a:r>
                        <a:rPr lang="ar-SY" sz="1100" dirty="0" err="1"/>
                        <a:t>This</a:t>
                      </a:r>
                      <a:r>
                        <a:rPr lang="ar-SY" sz="1100" dirty="0"/>
                        <a:t> </a:t>
                      </a:r>
                      <a:r>
                        <a:rPr lang="ar-SY" sz="1100" dirty="0" err="1"/>
                        <a:t>Much</a:t>
                      </a: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effectLst/>
                        </a:rPr>
                        <a:t> AI algor</a:t>
                      </a:r>
                      <a:r>
                        <a:rPr lang="en-US" sz="1100" dirty="0" err="1">
                          <a:effectLst/>
                        </a:rPr>
                        <a:t>ithems</a:t>
                      </a: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Web/app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r>
                        <a:rPr lang="ar-SY" sz="1100" dirty="0">
                          <a:effectLst/>
                        </a:rPr>
                        <a:t>آلي بالكامل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dirty="0">
                          <a:effectLst/>
                        </a:rPr>
                        <a:t>مدعوم</a:t>
                      </a: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r>
                        <a:rPr lang="ar-SY" sz="1100" dirty="0">
                          <a:effectLst/>
                        </a:rPr>
                        <a:t>التخطيط الذكي التلقائي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20387334"/>
                  </a:ext>
                </a:extLst>
              </a:tr>
              <a:tr h="70557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dirty="0" err="1"/>
                        <a:t>Fitbit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Wearables/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claud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api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تتبع شامل للنشاط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محدود من ناحية الوجبات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شمولية التقارير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60689981"/>
                  </a:ext>
                </a:extLst>
              </a:tr>
              <a:tr h="705578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Y" sz="1100" dirty="0" err="1"/>
                        <a:t>Yazio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Mobail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app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دقيق جداً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تقديم خطط جاهزة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تفصيل العناصر الغذائية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30572468"/>
                  </a:ext>
                </a:extLst>
              </a:tr>
              <a:tr h="70557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7858173"/>
                  </a:ext>
                </a:extLst>
              </a:tr>
              <a:tr h="70557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6517060"/>
                  </a:ext>
                </a:extLst>
              </a:tr>
              <a:tr h="70557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19901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27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12627-07FD-457B-3E38-68299376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E5E1-8F32-7A75-D549-1B986529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 dirty="0"/>
              <a:t>مشروع </a:t>
            </a:r>
            <a:r>
              <a:rPr lang="ar-SY" dirty="0"/>
              <a:t>تخرج 1</a:t>
            </a:r>
            <a:r>
              <a:rPr lang="ar-LB" dirty="0"/>
              <a:t>....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B202-87AB-2A68-ACDD-C0D1E321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8F884-D39F-11EE-4D51-5280663BEB05}"/>
              </a:ext>
            </a:extLst>
          </p:cNvPr>
          <p:cNvSpPr txBox="1"/>
          <p:nvPr/>
        </p:nvSpPr>
        <p:spPr>
          <a:xfrm>
            <a:off x="283464" y="522851"/>
            <a:ext cx="1044930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LB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متطلبات النظام الوظيفية العامة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0247E09-863E-D1C2-D722-D9CC5CA55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541841"/>
              </p:ext>
            </p:extLst>
          </p:nvPr>
        </p:nvGraphicFramePr>
        <p:xfrm>
          <a:off x="1581913" y="1152144"/>
          <a:ext cx="9345168" cy="44348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6114">
                  <a:extLst>
                    <a:ext uri="{9D8B030D-6E8A-4147-A177-3AD203B41FA5}">
                      <a16:colId xmlns:a16="http://schemas.microsoft.com/office/drawing/2014/main" val="400285357"/>
                    </a:ext>
                  </a:extLst>
                </a:gridCol>
                <a:gridCol w="7169054">
                  <a:extLst>
                    <a:ext uri="{9D8B030D-6E8A-4147-A177-3AD203B41FA5}">
                      <a16:colId xmlns:a16="http://schemas.microsoft.com/office/drawing/2014/main" val="3544803755"/>
                    </a:ext>
                  </a:extLst>
                </a:gridCol>
              </a:tblGrid>
              <a:tr h="105420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800" kern="100" dirty="0">
                          <a:effectLst/>
                        </a:rPr>
                        <a:t>(الكود)</a:t>
                      </a:r>
                      <a:r>
                        <a:rPr lang="en-US" sz="1800" kern="100" dirty="0">
                          <a:effectLst/>
                        </a:rPr>
                        <a:t>	</a:t>
                      </a:r>
                      <a:r>
                        <a:rPr lang="ar-LB" sz="1800" kern="100" dirty="0">
                          <a:effectLst/>
                        </a:rPr>
                        <a:t>الرمز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800" kern="100" dirty="0">
                          <a:effectLst/>
                        </a:rPr>
                        <a:t>المتطلب الوظيفي العام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1663475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FR-G01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800" kern="100" dirty="0">
                          <a:effectLst/>
                        </a:rPr>
                        <a:t>يجب أن يتيح النظام ...............................................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8312416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6855219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9307271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0489779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4732570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0803148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8380801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4683688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0450337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5502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62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490D0-F977-70A1-C8C6-88865609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2D5F-1736-8A53-76FE-F6C1BE9C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 dirty="0"/>
              <a:t>مشروع</a:t>
            </a:r>
            <a:r>
              <a:rPr lang="ar-SY" dirty="0"/>
              <a:t> تخرج 1</a:t>
            </a:r>
            <a:r>
              <a:rPr lang="ar-LB" dirty="0"/>
              <a:t>....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3D76-EC54-70CD-79C9-1B65AD83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76CD9-99C4-9D8A-6CDD-732E379AF4CB}"/>
              </a:ext>
            </a:extLst>
          </p:cNvPr>
          <p:cNvSpPr txBox="1"/>
          <p:nvPr/>
        </p:nvSpPr>
        <p:spPr>
          <a:xfrm>
            <a:off x="5177790" y="600347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LB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المتطلبات غير الوظيفية</a:t>
            </a:r>
            <a:endParaRPr lang="en-US" sz="2400" b="1" dirty="0">
              <a:solidFill>
                <a:srgbClr val="2F5496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A51A62-8EA8-E40B-DCB1-5FB2FC00D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23796"/>
              </p:ext>
            </p:extLst>
          </p:nvPr>
        </p:nvGraphicFramePr>
        <p:xfrm>
          <a:off x="996696" y="1225297"/>
          <a:ext cx="10104121" cy="44323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3481">
                  <a:extLst>
                    <a:ext uri="{9D8B030D-6E8A-4147-A177-3AD203B41FA5}">
                      <a16:colId xmlns:a16="http://schemas.microsoft.com/office/drawing/2014/main" val="3947864476"/>
                    </a:ext>
                  </a:extLst>
                </a:gridCol>
                <a:gridCol w="6410359">
                  <a:extLst>
                    <a:ext uri="{9D8B030D-6E8A-4147-A177-3AD203B41FA5}">
                      <a16:colId xmlns:a16="http://schemas.microsoft.com/office/drawing/2014/main" val="2250732525"/>
                    </a:ext>
                  </a:extLst>
                </a:gridCol>
                <a:gridCol w="2240281">
                  <a:extLst>
                    <a:ext uri="{9D8B030D-6E8A-4147-A177-3AD203B41FA5}">
                      <a16:colId xmlns:a16="http://schemas.microsoft.com/office/drawing/2014/main" val="1585840319"/>
                    </a:ext>
                  </a:extLst>
                </a:gridCol>
              </a:tblGrid>
              <a:tr h="105703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800" kern="100" dirty="0">
                          <a:effectLst/>
                        </a:rPr>
                        <a:t>(الكود) الرمز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800" kern="100" dirty="0">
                          <a:effectLst/>
                        </a:rPr>
                        <a:t>الشرح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800" kern="100">
                          <a:effectLst/>
                        </a:rPr>
                        <a:t>المتطلب غير الوظيفي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94380827"/>
                  </a:ext>
                </a:extLst>
              </a:tr>
              <a:tr h="8438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NFR-01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800" kern="100" dirty="0">
                          <a:effectLst/>
                        </a:rPr>
                        <a:t>يجب أن يكون زمن استجابة </a:t>
                      </a:r>
                      <a:r>
                        <a:rPr lang="en-US" sz="1800" kern="100" dirty="0">
                          <a:effectLst/>
                        </a:rPr>
                        <a:t>API</a:t>
                      </a:r>
                      <a:r>
                        <a:rPr lang="ar-LB" sz="1800" kern="100" dirty="0">
                          <a:effectLst/>
                        </a:rPr>
                        <a:t> أقل من ثانيتين في الظروف العادية.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800" kern="100" dirty="0">
                          <a:effectLst/>
                        </a:rPr>
                        <a:t>الأداء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2305446"/>
                  </a:ext>
                </a:extLst>
              </a:tr>
              <a:tr h="8438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NFR-02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 dirty="0">
                          <a:effectLst/>
                        </a:rPr>
                        <a:t>يجب تجزئة كلمات مرور المستخدم ويجب نقل بيانات الصحية الشخصية بشكل كامل</a:t>
                      </a:r>
                      <a:endParaRPr lang="ar-LB" sz="1800" kern="100" dirty="0"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الأمان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9829004"/>
                  </a:ext>
                </a:extLst>
              </a:tr>
              <a:tr h="8438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NFR-03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 dirty="0">
                          <a:effectLst/>
                        </a:rPr>
                        <a:t>يجب ان تسمح واجهة المستخدم للمستخدمين تسجيل بياناتهم </a:t>
                      </a:r>
                      <a:endParaRPr lang="ar-LB" sz="1800" kern="100" dirty="0"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قابلية الاستخدام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430629"/>
                  </a:ext>
                </a:extLst>
              </a:tr>
              <a:tr h="8438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NFR-04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 dirty="0">
                          <a:effectLst/>
                        </a:rPr>
                        <a:t>يجب ان يكون التطبيق قيد التشغيل في وضع عدم الاتصال (</a:t>
                      </a:r>
                      <a:r>
                        <a:rPr lang="en-GB" sz="1800" kern="100" dirty="0" err="1">
                          <a:effectLst/>
                        </a:rPr>
                        <a:t>sqlite</a:t>
                      </a:r>
                      <a:r>
                        <a:rPr lang="ar-SY" sz="1800" kern="100" dirty="0">
                          <a:effectLst/>
                        </a:rPr>
                        <a:t>) </a:t>
                      </a:r>
                      <a:endParaRPr lang="ar-LB" sz="1800" kern="100" dirty="0"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الموثوقية 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3240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40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67413-4A80-7A0A-CB0B-B1C55BC2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96BA6-32B1-D3CE-5D0F-8B0F7DCC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 dirty="0"/>
              <a:t>مشروع </a:t>
            </a:r>
            <a:r>
              <a:rPr lang="ar-SY" dirty="0"/>
              <a:t>تخرج 1</a:t>
            </a:r>
            <a:r>
              <a:rPr lang="ar-LB" dirty="0"/>
              <a:t>....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85B69-20DE-8D7B-2FF6-B020A9BD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36810-8581-F1F0-2198-A22F32810AD5}"/>
              </a:ext>
            </a:extLst>
          </p:cNvPr>
          <p:cNvSpPr txBox="1"/>
          <p:nvPr/>
        </p:nvSpPr>
        <p:spPr>
          <a:xfrm>
            <a:off x="5106162" y="240050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LB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المتطلبات الوظيفية</a:t>
            </a: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  </a:t>
            </a:r>
            <a:r>
              <a:rPr lang="ar-SY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لمشروع التخرج 1</a:t>
            </a:r>
            <a:endParaRPr lang="en-US" sz="2400" b="1" dirty="0">
              <a:solidFill>
                <a:srgbClr val="2F5496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E0A823-6FE3-DA8C-CF66-1C11142D6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91538"/>
              </p:ext>
            </p:extLst>
          </p:nvPr>
        </p:nvGraphicFramePr>
        <p:xfrm>
          <a:off x="838200" y="846718"/>
          <a:ext cx="9829799" cy="52807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836">
                  <a:extLst>
                    <a:ext uri="{9D8B030D-6E8A-4147-A177-3AD203B41FA5}">
                      <a16:colId xmlns:a16="http://schemas.microsoft.com/office/drawing/2014/main" val="2500911945"/>
                    </a:ext>
                  </a:extLst>
                </a:gridCol>
                <a:gridCol w="1126702">
                  <a:extLst>
                    <a:ext uri="{9D8B030D-6E8A-4147-A177-3AD203B41FA5}">
                      <a16:colId xmlns:a16="http://schemas.microsoft.com/office/drawing/2014/main" val="3459220316"/>
                    </a:ext>
                  </a:extLst>
                </a:gridCol>
                <a:gridCol w="3649785">
                  <a:extLst>
                    <a:ext uri="{9D8B030D-6E8A-4147-A177-3AD203B41FA5}">
                      <a16:colId xmlns:a16="http://schemas.microsoft.com/office/drawing/2014/main" val="3008094652"/>
                    </a:ext>
                  </a:extLst>
                </a:gridCol>
                <a:gridCol w="4001476">
                  <a:extLst>
                    <a:ext uri="{9D8B030D-6E8A-4147-A177-3AD203B41FA5}">
                      <a16:colId xmlns:a16="http://schemas.microsoft.com/office/drawing/2014/main" val="3902848817"/>
                    </a:ext>
                  </a:extLst>
                </a:gridCol>
              </a:tblGrid>
              <a:tr h="214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 dirty="0">
                          <a:effectLst/>
                        </a:rPr>
                        <a:t>الأولوية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 dirty="0">
                          <a:effectLst/>
                        </a:rPr>
                        <a:t>الرمز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 dirty="0">
                          <a:effectLst/>
                        </a:rPr>
                        <a:t>المتطلب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 dirty="0">
                          <a:effectLst/>
                        </a:rPr>
                        <a:t>الوصف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3726116225"/>
                  </a:ext>
                </a:extLst>
              </a:tr>
              <a:tr h="32117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 dirty="0">
                          <a:effectLst/>
                          <a:highlight>
                            <a:srgbClr val="FF0000"/>
                          </a:highlight>
                        </a:rPr>
                        <a:t>1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FR-01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حساب السعرات اللازمة 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معادلات حساب السعرات الأساسية (BMR &amp; TDEE) بناءً على العمر، الطول، الوزن، ومستوى النشاط، مع تحديد الهدف (زيادة، نقصان، ثبات).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4280710218"/>
                  </a:ext>
                </a:extLst>
              </a:tr>
              <a:tr h="24655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 dirty="0">
                          <a:effectLst/>
                          <a:highlight>
                            <a:srgbClr val="FF0000"/>
                          </a:highlight>
                        </a:rPr>
                        <a:t>2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FR-02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سجل يومي للوجبات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واجهة المستخدم لتسجيل الوجبات اليومية (إفطار، غداء، عشاء، سناك) مع إمكانية تعديلها أو حذفها.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1141852064"/>
                  </a:ext>
                </a:extLst>
              </a:tr>
              <a:tr h="25753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FF0000"/>
                          </a:highlight>
                        </a:rPr>
                        <a:t>3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FR-03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تسجيل السعرات لكل وجبة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حساب مجموع السعرات الحرارية لكل وجبة مدخلة بناءً على المكونات أو الأغذية المضافة.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1881336812"/>
                  </a:ext>
                </a:extLst>
              </a:tr>
              <a:tr h="25753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FF0000"/>
                          </a:highlight>
                        </a:rPr>
                        <a:t>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FR-04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حساب العناصر الغذائية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تفصيل الـ </a:t>
                      </a:r>
                      <a:r>
                        <a:rPr lang="ar-SY" sz="1200" dirty="0" err="1"/>
                        <a:t>Macros</a:t>
                      </a:r>
                      <a:r>
                        <a:rPr lang="ar-SY" sz="1200" dirty="0"/>
                        <a:t> لكل وجبة ولليوم كامل بجانب السعرات الحرارية.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1797221151"/>
                  </a:ext>
                </a:extLst>
              </a:tr>
              <a:tr h="3631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FF0000"/>
                          </a:highlight>
                        </a:rPr>
                        <a:t>5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FR-05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التفضيلات الغذائية 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استبعاد الأغذية التي يعاني المستخدم من حساسية تجاهها أو لا يفضلها قبل توليد الخطط.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1420817437"/>
                  </a:ext>
                </a:extLst>
              </a:tr>
              <a:tr h="25753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FF0000"/>
                          </a:highlight>
                        </a:rPr>
                        <a:t>6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FR-06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إنشاء خطة غذائية اسبوعية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بناء خطة غذائية أسبوعية متكاملة ومخصصة للمستخدم بناءً على سعراته وأهدافه وتفضيلاته.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121264211"/>
                  </a:ext>
                </a:extLst>
              </a:tr>
              <a:tr h="25753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FF0000"/>
                          </a:highlight>
                        </a:rPr>
                        <a:t>7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FR-07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ذكاء اصطناعي 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شات بوت أو مساعد ذكي داخل التطبيق للإجابة على استفسارات المستخدم الصحية والغذائية.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1934606389"/>
                  </a:ext>
                </a:extLst>
              </a:tr>
              <a:tr h="25753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00FF00"/>
                          </a:highlight>
                        </a:rPr>
                        <a:t>8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FR-08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وجبات صحية مقترحة 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اقتراح وصفات وبدائل وجبات صحية ذكية ثابتة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3746636810"/>
                  </a:ext>
                </a:extLst>
              </a:tr>
              <a:tr h="35266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00FF00"/>
                          </a:highlight>
                        </a:rPr>
                        <a:t>9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FR-09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اشعارات ذكية عن الوجبات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إشعارات تفاعلية لتذكير المستخدم بمواعيد وجباته وعدد الوجبات المتبقية له خلال اليوم.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3636996436"/>
                  </a:ext>
                </a:extLst>
              </a:tr>
              <a:tr h="25753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00FF00"/>
                          </a:highlight>
                        </a:rPr>
                        <a:t>10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FR-10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مسح باركود المنتجات 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ميزة قراءة باركود الأغذية الجاهزة لجلب معلوماتها الغذائية تلقائياً (تعتمد على كاميرا الموبايل).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3773693988"/>
                  </a:ext>
                </a:extLst>
              </a:tr>
              <a:tr h="25699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00FF00"/>
                          </a:highlight>
                        </a:rPr>
                        <a:t>11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FR-11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قائمة مشتريات أسبوعية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توليد قائمة مشتريات تلقائية بناءً على الخطة الغذائية الأسبوعية لتسهيل التسوق.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1493857454"/>
                  </a:ext>
                </a:extLst>
              </a:tr>
              <a:tr h="321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FFFF00"/>
                          </a:highlight>
                        </a:rPr>
                        <a:t>12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FR-12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تقارير غذائية تفصيلية 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رسوم بيانية وتقارير دورية تظهر مدى التزام المستخدم وسجله (يومي، أسبوعي، شهري).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3420938653"/>
                  </a:ext>
                </a:extLst>
              </a:tr>
              <a:tr h="2575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FFFF00"/>
                          </a:highlight>
                        </a:rPr>
                        <a:t>13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FR-13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إسعافات أولية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تقديم إرشادات في الحالات الطارئة 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3450400142"/>
                  </a:ext>
                </a:extLst>
              </a:tr>
              <a:tr h="2575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  <a:highlight>
                            <a:srgbClr val="FFFF00"/>
                          </a:highlight>
                        </a:rPr>
                        <a:t>14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FR-14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إدارة الميزانية الغذائية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dirty="0"/>
                        <a:t>حساب تكلفة الوجبات أو الخطة الغذائية نسبةً للميزانية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1599489456"/>
                  </a:ext>
                </a:extLst>
              </a:tr>
              <a:tr h="2575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LB" sz="1600" kern="100">
                          <a:effectLst/>
                        </a:rPr>
                        <a:t>15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</a:rPr>
                        <a:t>FR-15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تخصيص وجبات غذائية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في حال وجود نظام ثابت للمستخدم يقوم بتخصيص وجبات ثابتة تضاف للسعرات اليومية بضغطة زر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430" marR="64430" marT="0" marB="0"/>
                </a:tc>
                <a:extLst>
                  <a:ext uri="{0D108BD9-81ED-4DB2-BD59-A6C34878D82A}">
                    <a16:rowId xmlns:a16="http://schemas.microsoft.com/office/drawing/2014/main" val="248897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074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43481-1474-F6FB-E26F-234BCCE3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FC852-467C-BAA7-9AA2-ED3CA591D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 dirty="0"/>
              <a:t>مشروع </a:t>
            </a:r>
            <a:r>
              <a:rPr lang="ar-SY" dirty="0"/>
              <a:t>تخرج 1</a:t>
            </a:r>
            <a:r>
              <a:rPr lang="ar-LB" dirty="0"/>
              <a:t>....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59B6-EF1D-127F-DE97-C8FB9F03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2A0AE-4E08-201B-39E7-C0595AAEF0C8}"/>
              </a:ext>
            </a:extLst>
          </p:cNvPr>
          <p:cNvSpPr txBox="1"/>
          <p:nvPr/>
        </p:nvSpPr>
        <p:spPr>
          <a:xfrm>
            <a:off x="5141214" y="545483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LB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منهجية التطوير:</a:t>
            </a:r>
            <a:endParaRPr lang="en-US" sz="2400" b="1" dirty="0">
              <a:solidFill>
                <a:srgbClr val="2F5496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9509B74C-F29B-47A6-8AF8-E3B2AC5D4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82"/>
            <a:ext cx="8610600" cy="6412380"/>
          </a:xfrm>
          <a:prstGeom prst="rect">
            <a:avLst/>
          </a:prstGeom>
        </p:spPr>
      </p:pic>
      <p:sp>
        <p:nvSpPr>
          <p:cNvPr id="8" name="مربع نص 7">
            <a:extLst>
              <a:ext uri="{FF2B5EF4-FFF2-40B4-BE49-F238E27FC236}">
                <a16:creationId xmlns:a16="http://schemas.microsoft.com/office/drawing/2014/main" id="{5C400AFA-BE5A-E9DE-DB4A-EF89344EBD76}"/>
              </a:ext>
            </a:extLst>
          </p:cNvPr>
          <p:cNvSpPr txBox="1"/>
          <p:nvPr/>
        </p:nvSpPr>
        <p:spPr>
          <a:xfrm>
            <a:off x="8510954" y="1304163"/>
            <a:ext cx="3558860" cy="3678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250000"/>
              </a:lnSpc>
            </a:pPr>
            <a:r>
              <a:rPr lang="ar-SY" sz="1600" dirty="0"/>
              <a:t>تم اختيار منهجية </a:t>
            </a:r>
            <a:r>
              <a:rPr lang="en-GB" sz="1600" b="1" dirty="0"/>
              <a:t>I</a:t>
            </a:r>
            <a:r>
              <a:rPr lang="ar-SY" sz="1600" b="1" dirty="0" err="1"/>
              <a:t>terative</a:t>
            </a:r>
            <a:r>
              <a:rPr lang="ar-SY" sz="1600" b="1" dirty="0"/>
              <a:t> &amp; </a:t>
            </a:r>
            <a:r>
              <a:rPr lang="ar-SY" sz="1600" b="1" dirty="0" err="1"/>
              <a:t>Incremental</a:t>
            </a:r>
            <a:r>
              <a:rPr lang="ar-SY" sz="1600" dirty="0"/>
              <a:t> لملاءمتها طبيعة المشروع القائم على توسعة نظام سابق بإضافة متطلبات وظيفية جديدة بشكل تدريجي.</a:t>
            </a:r>
            <a:br>
              <a:rPr lang="ar-SY" sz="1600" dirty="0"/>
            </a:br>
            <a:r>
              <a:rPr lang="ar-SY" sz="1600" dirty="0"/>
              <a:t>كما تتيح اختبار وتحسين كل مرحلة بصورة مستمرة، مما يسهم في اكتشاف الأخطاء مبكرًا وتقليل مخاطر التطوير والتكامل.</a:t>
            </a:r>
          </a:p>
        </p:txBody>
      </p:sp>
    </p:spTree>
    <p:extLst>
      <p:ext uri="{BB962C8B-B14F-4D97-AF65-F5344CB8AC3E}">
        <p14:creationId xmlns:p14="http://schemas.microsoft.com/office/powerpoint/2010/main" val="2917219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86D7-737F-883F-4763-97835B7B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97AA4-2DE6-2DB1-C9EE-4F0AC410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 dirty="0"/>
              <a:t>مشروع </a:t>
            </a:r>
            <a:r>
              <a:rPr lang="ar-SY" dirty="0"/>
              <a:t>تخرج 1</a:t>
            </a:r>
            <a:r>
              <a:rPr lang="ar-LB" dirty="0"/>
              <a:t>....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8C7D9-B29E-EE99-58C1-F5694697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4BE27-27D0-9F26-4991-C1922E4AD8DB}"/>
              </a:ext>
            </a:extLst>
          </p:cNvPr>
          <p:cNvSpPr txBox="1"/>
          <p:nvPr/>
        </p:nvSpPr>
        <p:spPr>
          <a:xfrm>
            <a:off x="5433822" y="141993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lang="ar-LB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خطة المشروع الزمنية </a:t>
            </a: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Chart</a:t>
            </a:r>
            <a:r>
              <a:rPr lang="ar-LB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Gantt</a:t>
            </a:r>
            <a:r>
              <a:rPr lang="ar-LB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 (مثال)</a:t>
            </a:r>
            <a:endParaRPr lang="en-US" sz="2400" b="1" dirty="0">
              <a:solidFill>
                <a:srgbClr val="2F5496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42A899-9166-ECDB-E333-AF2B0B93B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92" y="1499616"/>
            <a:ext cx="10136015" cy="365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24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</TotalTime>
  <Words>840</Words>
  <Application>Microsoft Office PowerPoint</Application>
  <PresentationFormat>شاشة عريضة</PresentationFormat>
  <Paragraphs>172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akram massouh</dc:creator>
  <cp:lastModifiedBy>malek essa</cp:lastModifiedBy>
  <cp:revision>13</cp:revision>
  <dcterms:created xsi:type="dcterms:W3CDTF">2026-10-17T18:22:22Z</dcterms:created>
  <dcterms:modified xsi:type="dcterms:W3CDTF">2026-10-25T19:30:51Z</dcterms:modified>
</cp:coreProperties>
</file>