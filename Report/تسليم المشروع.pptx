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0" r:id="rId14"/>
    <p:sldId id="267" r:id="rId15"/>
    <p:sldId id="269" r:id="rId16"/>
    <p:sldId id="275" r:id="rId17"/>
    <p:sldId id="273" r:id="rId18"/>
    <p:sldId id="268" r:id="rId19"/>
    <p:sldId id="274" r:id="rId20"/>
    <p:sldId id="276" r:id="rId21"/>
    <p:sldId id="277" r:id="rId22"/>
    <p:sldId id="272" r:id="rId23"/>
    <p:sldId id="278" r:id="rId24"/>
    <p:sldId id="279" r:id="rId25"/>
  </p:sldIdLst>
  <p:sldSz cx="9144000" cy="6858000" type="screen4x3"/>
  <p:notesSz cx="6858000" cy="9144000"/>
  <p:defaultTextStyle>
    <a:defPPr>
      <a:defRPr lang="ar-SY"/>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النمط المتوسط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72" autoAdjust="0"/>
    <p:restoredTop sz="94660"/>
  </p:normalViewPr>
  <p:slideViewPr>
    <p:cSldViewPr>
      <p:cViewPr varScale="1">
        <p:scale>
          <a:sx n="99" d="100"/>
          <a:sy n="99" d="100"/>
        </p:scale>
        <p:origin x="773"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a:t>انقر لتحرير نمط العنوان الرئيسي</a:t>
            </a:r>
            <a:endParaRPr lang="ar-SY"/>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endParaRPr lang="ar-SY"/>
          </a:p>
        </p:txBody>
      </p:sp>
      <p:sp>
        <p:nvSpPr>
          <p:cNvPr id="4" name="عنصر نائب للتاريخ 3"/>
          <p:cNvSpPr>
            <a:spLocks noGrp="1"/>
          </p:cNvSpPr>
          <p:nvPr>
            <p:ph type="dt" sz="half" idx="10"/>
          </p:nvPr>
        </p:nvSpPr>
        <p:spPr/>
        <p:txBody>
          <a:body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11"/>
          </p:nvPr>
        </p:nvSpPr>
        <p:spPr/>
        <p:txBody>
          <a:bodyPr/>
          <a:lstStyle/>
          <a:p>
            <a:endParaRPr lang="ar-SY"/>
          </a:p>
        </p:txBody>
      </p:sp>
      <p:sp>
        <p:nvSpPr>
          <p:cNvPr id="6" name="عنصر نائب لرقم الشريحة 5"/>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2114495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SY"/>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تاريخ 3"/>
          <p:cNvSpPr>
            <a:spLocks noGrp="1"/>
          </p:cNvSpPr>
          <p:nvPr>
            <p:ph type="dt" sz="half" idx="10"/>
          </p:nvPr>
        </p:nvSpPr>
        <p:spPr/>
        <p:txBody>
          <a:body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11"/>
          </p:nvPr>
        </p:nvSpPr>
        <p:spPr/>
        <p:txBody>
          <a:bodyPr/>
          <a:lstStyle/>
          <a:p>
            <a:endParaRPr lang="ar-SY"/>
          </a:p>
        </p:txBody>
      </p:sp>
      <p:sp>
        <p:nvSpPr>
          <p:cNvPr id="6" name="عنصر نائب لرقم الشريحة 5"/>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025246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a:t>انقر لتحرير نمط العنوان الرئيسي</a:t>
            </a:r>
            <a:endParaRPr lang="ar-SY"/>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عنصر نائب للتاريخ 3"/>
          <p:cNvSpPr>
            <a:spLocks noGrp="1"/>
          </p:cNvSpPr>
          <p:nvPr>
            <p:ph type="dt" sz="half" idx="10"/>
          </p:nvPr>
        </p:nvSpPr>
        <p:spPr/>
        <p:txBody>
          <a:body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11"/>
          </p:nvPr>
        </p:nvSpPr>
        <p:spPr/>
        <p:txBody>
          <a:bodyPr/>
          <a:lstStyle/>
          <a:p>
            <a:endParaRPr lang="ar-SY"/>
          </a:p>
        </p:txBody>
      </p:sp>
      <p:sp>
        <p:nvSpPr>
          <p:cNvPr id="6" name="عنصر نائب لرقم الشريحة 5"/>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665852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SY"/>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5" name="عنصر نائب للتاريخ 4"/>
          <p:cNvSpPr>
            <a:spLocks noGrp="1"/>
          </p:cNvSpPr>
          <p:nvPr>
            <p:ph type="dt" sz="half" idx="10"/>
          </p:nvPr>
        </p:nvSpPr>
        <p:spPr/>
        <p:txBody>
          <a:bodyPr/>
          <a:lstStyle/>
          <a:p>
            <a:fld id="{91FC9C51-09E7-407D-99BB-5C70753387B6}" type="datetimeFigureOut">
              <a:rPr lang="ar-SY" smtClean="0"/>
              <a:t>17/12/1447</a:t>
            </a:fld>
            <a:endParaRPr lang="ar-SY"/>
          </a:p>
        </p:txBody>
      </p:sp>
      <p:sp>
        <p:nvSpPr>
          <p:cNvPr id="6" name="عنصر نائب للتذييل 5"/>
          <p:cNvSpPr>
            <a:spLocks noGrp="1"/>
          </p:cNvSpPr>
          <p:nvPr>
            <p:ph type="ftr" sz="quarter" idx="11"/>
          </p:nvPr>
        </p:nvSpPr>
        <p:spPr/>
        <p:txBody>
          <a:bodyPr/>
          <a:lstStyle/>
          <a:p>
            <a:endParaRPr lang="ar-SY"/>
          </a:p>
        </p:txBody>
      </p:sp>
      <p:sp>
        <p:nvSpPr>
          <p:cNvPr id="7" name="عنصر نائب لرقم الشريحة 6"/>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2832226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a:t>انقر لتحرير نمط العنوان الرئيسي</a:t>
            </a:r>
            <a:endParaRPr lang="ar-SY"/>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7" name="عنصر نائب للتاريخ 6"/>
          <p:cNvSpPr>
            <a:spLocks noGrp="1"/>
          </p:cNvSpPr>
          <p:nvPr>
            <p:ph type="dt" sz="half" idx="10"/>
          </p:nvPr>
        </p:nvSpPr>
        <p:spPr/>
        <p:txBody>
          <a:bodyPr/>
          <a:lstStyle/>
          <a:p>
            <a:fld id="{91FC9C51-09E7-407D-99BB-5C70753387B6}" type="datetimeFigureOut">
              <a:rPr lang="ar-SY" smtClean="0"/>
              <a:t>17/12/1447</a:t>
            </a:fld>
            <a:endParaRPr lang="ar-SY"/>
          </a:p>
        </p:txBody>
      </p:sp>
      <p:sp>
        <p:nvSpPr>
          <p:cNvPr id="8" name="عنصر نائب للتذييل 7"/>
          <p:cNvSpPr>
            <a:spLocks noGrp="1"/>
          </p:cNvSpPr>
          <p:nvPr>
            <p:ph type="ftr" sz="quarter" idx="11"/>
          </p:nvPr>
        </p:nvSpPr>
        <p:spPr/>
        <p:txBody>
          <a:bodyPr/>
          <a:lstStyle/>
          <a:p>
            <a:endParaRPr lang="ar-SY"/>
          </a:p>
        </p:txBody>
      </p:sp>
      <p:sp>
        <p:nvSpPr>
          <p:cNvPr id="9" name="عنصر نائب لرقم الشريحة 8"/>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178584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SY"/>
          </a:p>
        </p:txBody>
      </p:sp>
      <p:sp>
        <p:nvSpPr>
          <p:cNvPr id="3" name="عنصر نائب للتاريخ 2"/>
          <p:cNvSpPr>
            <a:spLocks noGrp="1"/>
          </p:cNvSpPr>
          <p:nvPr>
            <p:ph type="dt" sz="half" idx="10"/>
          </p:nvPr>
        </p:nvSpPr>
        <p:spPr/>
        <p:txBody>
          <a:bodyPr/>
          <a:lstStyle/>
          <a:p>
            <a:fld id="{91FC9C51-09E7-407D-99BB-5C70753387B6}" type="datetimeFigureOut">
              <a:rPr lang="ar-SY" smtClean="0"/>
              <a:t>17/12/1447</a:t>
            </a:fld>
            <a:endParaRPr lang="ar-SY"/>
          </a:p>
        </p:txBody>
      </p:sp>
      <p:sp>
        <p:nvSpPr>
          <p:cNvPr id="4" name="عنصر نائب للتذييل 3"/>
          <p:cNvSpPr>
            <a:spLocks noGrp="1"/>
          </p:cNvSpPr>
          <p:nvPr>
            <p:ph type="ftr" sz="quarter" idx="11"/>
          </p:nvPr>
        </p:nvSpPr>
        <p:spPr/>
        <p:txBody>
          <a:bodyPr/>
          <a:lstStyle/>
          <a:p>
            <a:endParaRPr lang="ar-SY"/>
          </a:p>
        </p:txBody>
      </p:sp>
      <p:sp>
        <p:nvSpPr>
          <p:cNvPr id="5" name="عنصر نائب لرقم الشريحة 4"/>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788872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91FC9C51-09E7-407D-99BB-5C70753387B6}" type="datetimeFigureOut">
              <a:rPr lang="ar-SY" smtClean="0"/>
              <a:t>17/12/1447</a:t>
            </a:fld>
            <a:endParaRPr lang="ar-SY"/>
          </a:p>
        </p:txBody>
      </p:sp>
      <p:sp>
        <p:nvSpPr>
          <p:cNvPr id="3" name="عنصر نائب للتذييل 2"/>
          <p:cNvSpPr>
            <a:spLocks noGrp="1"/>
          </p:cNvSpPr>
          <p:nvPr>
            <p:ph type="ftr" sz="quarter" idx="11"/>
          </p:nvPr>
        </p:nvSpPr>
        <p:spPr/>
        <p:txBody>
          <a:bodyPr/>
          <a:lstStyle/>
          <a:p>
            <a:endParaRPr lang="ar-SY"/>
          </a:p>
        </p:txBody>
      </p:sp>
      <p:sp>
        <p:nvSpPr>
          <p:cNvPr id="4" name="عنصر نائب لرقم الشريحة 3"/>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81753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a:t>انقر لتحرير نمط العنوان الرئيسي</a:t>
            </a:r>
            <a:endParaRPr lang="ar-SY"/>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91FC9C51-09E7-407D-99BB-5C70753387B6}" type="datetimeFigureOut">
              <a:rPr lang="ar-SY" smtClean="0"/>
              <a:t>17/12/1447</a:t>
            </a:fld>
            <a:endParaRPr lang="ar-SY"/>
          </a:p>
        </p:txBody>
      </p:sp>
      <p:sp>
        <p:nvSpPr>
          <p:cNvPr id="6" name="عنصر نائب للتذييل 5"/>
          <p:cNvSpPr>
            <a:spLocks noGrp="1"/>
          </p:cNvSpPr>
          <p:nvPr>
            <p:ph type="ftr" sz="quarter" idx="11"/>
          </p:nvPr>
        </p:nvSpPr>
        <p:spPr/>
        <p:txBody>
          <a:bodyPr/>
          <a:lstStyle/>
          <a:p>
            <a:endParaRPr lang="ar-SY"/>
          </a:p>
        </p:txBody>
      </p:sp>
      <p:sp>
        <p:nvSpPr>
          <p:cNvPr id="7" name="عنصر نائب لرقم الشريحة 6"/>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01096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a:t>انقر لتحرير نمط العنوان الرئيسي</a:t>
            </a:r>
            <a:endParaRPr lang="ar-SY"/>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Y"/>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91FC9C51-09E7-407D-99BB-5C70753387B6}" type="datetimeFigureOut">
              <a:rPr lang="ar-SY" smtClean="0"/>
              <a:t>17/12/1447</a:t>
            </a:fld>
            <a:endParaRPr lang="ar-SY"/>
          </a:p>
        </p:txBody>
      </p:sp>
      <p:sp>
        <p:nvSpPr>
          <p:cNvPr id="6" name="عنصر نائب للتذييل 5"/>
          <p:cNvSpPr>
            <a:spLocks noGrp="1"/>
          </p:cNvSpPr>
          <p:nvPr>
            <p:ph type="ftr" sz="quarter" idx="11"/>
          </p:nvPr>
        </p:nvSpPr>
        <p:spPr/>
        <p:txBody>
          <a:bodyPr/>
          <a:lstStyle/>
          <a:p>
            <a:endParaRPr lang="ar-SY"/>
          </a:p>
        </p:txBody>
      </p:sp>
      <p:sp>
        <p:nvSpPr>
          <p:cNvPr id="7" name="عنصر نائب لرقم الشريحة 6"/>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937916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SY"/>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تاريخ 3"/>
          <p:cNvSpPr>
            <a:spLocks noGrp="1"/>
          </p:cNvSpPr>
          <p:nvPr>
            <p:ph type="dt" sz="half" idx="10"/>
          </p:nvPr>
        </p:nvSpPr>
        <p:spPr/>
        <p:txBody>
          <a:body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11"/>
          </p:nvPr>
        </p:nvSpPr>
        <p:spPr/>
        <p:txBody>
          <a:bodyPr/>
          <a:lstStyle/>
          <a:p>
            <a:endParaRPr lang="ar-SY"/>
          </a:p>
        </p:txBody>
      </p:sp>
      <p:sp>
        <p:nvSpPr>
          <p:cNvPr id="6" name="عنصر نائب لرقم الشريحة 5"/>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969945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a:t>انقر لتحرير نمط العنوان الرئيسي</a:t>
            </a:r>
            <a:endParaRPr lang="ar-SY"/>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تاريخ 3"/>
          <p:cNvSpPr>
            <a:spLocks noGrp="1"/>
          </p:cNvSpPr>
          <p:nvPr>
            <p:ph type="dt" sz="half" idx="10"/>
          </p:nvPr>
        </p:nvSpPr>
        <p:spPr/>
        <p:txBody>
          <a:body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11"/>
          </p:nvPr>
        </p:nvSpPr>
        <p:spPr/>
        <p:txBody>
          <a:bodyPr/>
          <a:lstStyle/>
          <a:p>
            <a:endParaRPr lang="ar-SY"/>
          </a:p>
        </p:txBody>
      </p:sp>
      <p:sp>
        <p:nvSpPr>
          <p:cNvPr id="6" name="عنصر نائب لرقم الشريحة 5"/>
          <p:cNvSpPr>
            <a:spLocks noGrp="1"/>
          </p:cNvSpPr>
          <p:nvPr>
            <p:ph type="sldNum" sz="quarter" idx="12"/>
          </p:nvPr>
        </p:nvSpPr>
        <p:spPr/>
        <p:txBody>
          <a:bodyPr/>
          <a:lstStyle/>
          <a:p>
            <a:fld id="{007BC07E-5546-43FA-A44C-9702485D710B}" type="slidenum">
              <a:rPr lang="ar-SY" smtClean="0"/>
              <a:t>‹#›</a:t>
            </a:fld>
            <a:endParaRPr lang="ar-SY"/>
          </a:p>
        </p:txBody>
      </p:sp>
    </p:spTree>
    <p:extLst>
      <p:ext uri="{BB962C8B-B14F-4D97-AF65-F5344CB8AC3E}">
        <p14:creationId xmlns:p14="http://schemas.microsoft.com/office/powerpoint/2010/main" val="3647024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a:t>انقر لتحرير نمط العنوان الرئيسي</a:t>
            </a:r>
            <a:endParaRPr lang="ar-SY"/>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1FC9C51-09E7-407D-99BB-5C70753387B6}" type="datetimeFigureOut">
              <a:rPr lang="ar-SY" smtClean="0"/>
              <a:t>17/12/1447</a:t>
            </a:fld>
            <a:endParaRPr lang="ar-SY"/>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Y"/>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007BC07E-5546-43FA-A44C-9702485D710B}" type="slidenum">
              <a:rPr lang="ar-SY" smtClean="0"/>
              <a:t>‹#›</a:t>
            </a:fld>
            <a:endParaRPr lang="ar-SY"/>
          </a:p>
        </p:txBody>
      </p:sp>
    </p:spTree>
    <p:extLst>
      <p:ext uri="{BB962C8B-B14F-4D97-AF65-F5344CB8AC3E}">
        <p14:creationId xmlns:p14="http://schemas.microsoft.com/office/powerpoint/2010/main" val="2775374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Y"/>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1371600" y="908720"/>
            <a:ext cx="7772400" cy="1470025"/>
          </a:xfrm>
        </p:spPr>
        <p:txBody>
          <a:bodyPr>
            <a:noAutofit/>
          </a:bodyPr>
          <a:lstStyle/>
          <a:p>
            <a:br>
              <a:rPr lang="ar-SY" sz="3200" b="1" i="1" dirty="0">
                <a:solidFill>
                  <a:schemeClr val="tx2"/>
                </a:solidFill>
              </a:rPr>
            </a:br>
            <a:r>
              <a:rPr lang="en-US" sz="3200" b="1" i="1" dirty="0">
                <a:solidFill>
                  <a:schemeClr val="tx2"/>
                </a:solidFill>
              </a:rPr>
              <a:t>Syrian Private University</a:t>
            </a:r>
            <a:br>
              <a:rPr lang="en-US" sz="3200" b="1" i="1" dirty="0">
                <a:solidFill>
                  <a:schemeClr val="tx2"/>
                </a:solidFill>
              </a:rPr>
            </a:br>
            <a:r>
              <a:rPr lang="en-US" sz="3200" b="1" i="1" dirty="0">
                <a:solidFill>
                  <a:schemeClr val="tx2"/>
                </a:solidFill>
              </a:rPr>
              <a:t>Department of Software Engineering and </a:t>
            </a:r>
            <a:br>
              <a:rPr lang="ar-SY" sz="3200" b="1" i="1" dirty="0">
                <a:solidFill>
                  <a:schemeClr val="tx2"/>
                </a:solidFill>
              </a:rPr>
            </a:br>
            <a:r>
              <a:rPr lang="en-US" sz="3200" b="1" i="1" dirty="0">
                <a:solidFill>
                  <a:schemeClr val="tx2"/>
                </a:solidFill>
              </a:rPr>
              <a:t>Intelligent Systems</a:t>
            </a:r>
            <a:br>
              <a:rPr lang="en-US" sz="3200" b="1" i="1" dirty="0">
                <a:solidFill>
                  <a:schemeClr val="tx2"/>
                </a:solidFill>
              </a:rPr>
            </a:br>
            <a:br>
              <a:rPr lang="en-US" sz="3200" b="1" i="1" dirty="0"/>
            </a:br>
            <a:endParaRPr lang="ar-SY" sz="3200" b="1" i="1" dirty="0"/>
          </a:p>
        </p:txBody>
      </p:sp>
      <p:sp>
        <p:nvSpPr>
          <p:cNvPr id="3" name="عنوان فرعي 2"/>
          <p:cNvSpPr>
            <a:spLocks noGrp="1"/>
          </p:cNvSpPr>
          <p:nvPr>
            <p:ph type="subTitle" idx="1"/>
          </p:nvPr>
        </p:nvSpPr>
        <p:spPr>
          <a:xfrm>
            <a:off x="1547664" y="2276872"/>
            <a:ext cx="6400800" cy="3528392"/>
          </a:xfrm>
        </p:spPr>
        <p:txBody>
          <a:bodyPr>
            <a:normAutofit fontScale="55000" lnSpcReduction="20000"/>
          </a:bodyPr>
          <a:lstStyle/>
          <a:p>
            <a:r>
              <a:rPr lang="en-US" sz="5100" b="1" dirty="0">
                <a:solidFill>
                  <a:schemeClr val="tx2"/>
                </a:solidFill>
              </a:rPr>
              <a:t>SMART HEALTH ASSISTANT</a:t>
            </a:r>
          </a:p>
          <a:p>
            <a:r>
              <a:rPr lang="en-US" sz="4200" dirty="0">
                <a:solidFill>
                  <a:schemeClr val="tx1"/>
                </a:solidFill>
              </a:rPr>
              <a:t>Prepared by:</a:t>
            </a:r>
          </a:p>
          <a:p>
            <a:endParaRPr lang="en-US" sz="4200" dirty="0">
              <a:solidFill>
                <a:schemeClr val="tx1"/>
              </a:solidFill>
            </a:endParaRPr>
          </a:p>
          <a:p>
            <a:r>
              <a:rPr lang="en-US" sz="4200" dirty="0">
                <a:solidFill>
                  <a:schemeClr val="tx1"/>
                </a:solidFill>
              </a:rPr>
              <a:t>May Al-</a:t>
            </a:r>
            <a:r>
              <a:rPr lang="en-US" sz="4200" dirty="0" err="1">
                <a:solidFill>
                  <a:schemeClr val="tx1"/>
                </a:solidFill>
              </a:rPr>
              <a:t>Zoubi</a:t>
            </a:r>
            <a:r>
              <a:rPr lang="en-US" sz="4200" dirty="0">
                <a:solidFill>
                  <a:schemeClr val="tx1"/>
                </a:solidFill>
              </a:rPr>
              <a:t>         </a:t>
            </a:r>
            <a:r>
              <a:rPr lang="en-US" sz="4200" dirty="0" err="1">
                <a:solidFill>
                  <a:schemeClr val="tx1"/>
                </a:solidFill>
              </a:rPr>
              <a:t>Malek</a:t>
            </a:r>
            <a:r>
              <a:rPr lang="en-US" sz="4200" dirty="0">
                <a:solidFill>
                  <a:schemeClr val="tx1"/>
                </a:solidFill>
              </a:rPr>
              <a:t> </a:t>
            </a:r>
            <a:r>
              <a:rPr lang="en-US" sz="4200" dirty="0" err="1">
                <a:solidFill>
                  <a:schemeClr val="tx1"/>
                </a:solidFill>
              </a:rPr>
              <a:t>Essa</a:t>
            </a:r>
            <a:endParaRPr lang="en-US" sz="4200" b="1" dirty="0">
              <a:solidFill>
                <a:schemeClr val="tx2"/>
              </a:solidFill>
            </a:endParaRPr>
          </a:p>
          <a:p>
            <a:endParaRPr lang="ar-SY" sz="4200" dirty="0">
              <a:solidFill>
                <a:schemeClr val="tx1"/>
              </a:solidFill>
            </a:endParaRPr>
          </a:p>
          <a:p>
            <a:r>
              <a:rPr lang="en-US" sz="4200" dirty="0">
                <a:solidFill>
                  <a:schemeClr val="tx1"/>
                </a:solidFill>
              </a:rPr>
              <a:t>Supervised by : </a:t>
            </a:r>
          </a:p>
          <a:p>
            <a:endParaRPr lang="en-US" sz="4200" dirty="0">
              <a:solidFill>
                <a:schemeClr val="tx1"/>
              </a:solidFill>
            </a:endParaRPr>
          </a:p>
          <a:p>
            <a:r>
              <a:rPr lang="en-US" sz="4200" dirty="0">
                <a:solidFill>
                  <a:schemeClr val="tx1"/>
                </a:solidFill>
              </a:rPr>
              <a:t>Eng. </a:t>
            </a:r>
            <a:r>
              <a:rPr lang="en-US" sz="4200" dirty="0" err="1">
                <a:solidFill>
                  <a:schemeClr val="tx1"/>
                </a:solidFill>
              </a:rPr>
              <a:t>Shadi</a:t>
            </a:r>
            <a:r>
              <a:rPr lang="en-US" sz="4200" dirty="0">
                <a:solidFill>
                  <a:schemeClr val="tx1"/>
                </a:solidFill>
              </a:rPr>
              <a:t> </a:t>
            </a:r>
            <a:r>
              <a:rPr lang="en-US" sz="4200" dirty="0" err="1">
                <a:solidFill>
                  <a:schemeClr val="tx1"/>
                </a:solidFill>
              </a:rPr>
              <a:t>Blaidi</a:t>
            </a:r>
            <a:r>
              <a:rPr lang="en-US" sz="4200" dirty="0">
                <a:solidFill>
                  <a:schemeClr val="tx1"/>
                </a:solidFill>
              </a:rPr>
              <a:t>   Eng. Maya Al-Ahmad </a:t>
            </a:r>
          </a:p>
          <a:p>
            <a:r>
              <a:rPr lang="en-US" sz="4200" dirty="0">
                <a:solidFill>
                  <a:schemeClr val="tx1"/>
                </a:solidFill>
              </a:rPr>
              <a:t>Academic Year: 2025-2026</a:t>
            </a:r>
            <a:endParaRPr lang="ar-SY" sz="4200" b="1" dirty="0">
              <a:solidFill>
                <a:schemeClr val="tx1"/>
              </a:solidFill>
            </a:endParaRPr>
          </a:p>
        </p:txBody>
      </p:sp>
      <p:pic>
        <p:nvPicPr>
          <p:cNvPr id="4" name="صورة 3">
            <a:extLst>
              <a:ext uri="{FF2B5EF4-FFF2-40B4-BE49-F238E27FC236}">
                <a16:creationId xmlns:a16="http://schemas.microsoft.com/office/drawing/2014/main" id="{3D7386B9-48CF-AACF-0505-5FFD5B1EC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79512" y="-99392"/>
            <a:ext cx="3087370" cy="1466850"/>
          </a:xfrm>
          <a:prstGeom prst="rect">
            <a:avLst/>
          </a:prstGeom>
          <a:noFill/>
          <a:ln>
            <a:noFill/>
          </a:ln>
        </p:spPr>
      </p:pic>
    </p:spTree>
    <p:extLst>
      <p:ext uri="{BB962C8B-B14F-4D97-AF65-F5344CB8AC3E}">
        <p14:creationId xmlns:p14="http://schemas.microsoft.com/office/powerpoint/2010/main" val="137739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1- </a:t>
            </a:r>
            <a:r>
              <a:rPr lang="en-US" sz="2800" b="1" dirty="0"/>
              <a:t>Abstract/Introduction</a:t>
            </a:r>
            <a:endParaRPr lang="ar-SY" sz="2800" b="1" dirty="0"/>
          </a:p>
        </p:txBody>
      </p:sp>
      <p:sp>
        <p:nvSpPr>
          <p:cNvPr id="3" name="عنصر نائب للمحتوى 2"/>
          <p:cNvSpPr>
            <a:spLocks noGrp="1"/>
          </p:cNvSpPr>
          <p:nvPr>
            <p:ph idx="1"/>
          </p:nvPr>
        </p:nvSpPr>
        <p:spPr/>
        <p:txBody>
          <a:bodyPr>
            <a:normAutofit/>
          </a:bodyPr>
          <a:lstStyle/>
          <a:p>
            <a:pPr marL="0" indent="0" algn="l">
              <a:buNone/>
            </a:pPr>
            <a:r>
              <a:rPr lang="en-US" sz="1800" dirty="0"/>
              <a:t>In light of rapid technological development, smartphones and mobile devices have become an integral part of our daily lives . This project focuses on building a smart health assistant designed to track and improve essential daily habits, with an emphasis on sleep quality and current water consumption, due to their direct impact on mental and physical activity, the healthiness of the food consumed, and the creation of a medical record and a first aid section in the future. The project targets all individuals, especially students, to enhance academic productivity.</a:t>
            </a:r>
          </a:p>
          <a:p>
            <a:pPr marL="0" indent="0" algn="l">
              <a:buNone/>
            </a:pPr>
            <a:endParaRPr lang="en-US" sz="2600" dirty="0"/>
          </a:p>
          <a:p>
            <a:pPr marL="0" indent="0" algn="l">
              <a:buNone/>
            </a:pPr>
            <a:r>
              <a:rPr lang="ar-SY" dirty="0"/>
              <a:t>  </a:t>
            </a:r>
          </a:p>
        </p:txBody>
      </p:sp>
    </p:spTree>
    <p:extLst>
      <p:ext uri="{BB962C8B-B14F-4D97-AF65-F5344CB8AC3E}">
        <p14:creationId xmlns:p14="http://schemas.microsoft.com/office/powerpoint/2010/main" val="3532336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US" sz="3100" dirty="0"/>
              <a:t>2-Problem Statement &amp; Objectives</a:t>
            </a:r>
            <a:br>
              <a:rPr lang="en-US" dirty="0"/>
            </a:br>
            <a:endParaRPr lang="ar-SY" dirty="0"/>
          </a:p>
        </p:txBody>
      </p:sp>
      <p:sp>
        <p:nvSpPr>
          <p:cNvPr id="3" name="عنصر نائب للمحتوى 2"/>
          <p:cNvSpPr>
            <a:spLocks noGrp="1"/>
          </p:cNvSpPr>
          <p:nvPr>
            <p:ph idx="1"/>
          </p:nvPr>
        </p:nvSpPr>
        <p:spPr/>
        <p:txBody>
          <a:bodyPr>
            <a:normAutofit/>
          </a:bodyPr>
          <a:lstStyle/>
          <a:p>
            <a:pPr marL="0" indent="0" algn="l">
              <a:buNone/>
            </a:pPr>
            <a:r>
              <a:rPr lang="en-US" sz="2400" b="1" dirty="0"/>
              <a:t>Problem Statement :</a:t>
            </a:r>
          </a:p>
          <a:p>
            <a:pPr marL="0" indent="0" algn="l">
              <a:buNone/>
            </a:pPr>
            <a:r>
              <a:rPr lang="en-US" sz="2100" dirty="0"/>
              <a:t>Many individuals, especially in academic and work environments filled with pressure, suffer from difficulty maintaining a balanced healthy routine. The core problem lies in neglecting vital habits such as drinking sufficient amounts of water and getting regular sleep hours, which leads to exhaustion, poor concentration, and</a:t>
            </a:r>
            <a:r>
              <a:rPr lang="en-US" sz="2400" dirty="0"/>
              <a:t> </a:t>
            </a:r>
            <a:r>
              <a:rPr lang="en-US" sz="2100" dirty="0"/>
              <a:t>decreased productivity. </a:t>
            </a:r>
            <a:endParaRPr lang="ar-SY" sz="2100" dirty="0"/>
          </a:p>
          <a:p>
            <a:pPr marL="0" indent="0" algn="l">
              <a:buNone/>
            </a:pPr>
            <a:r>
              <a:rPr lang="ar-SY" sz="2400" b="1" dirty="0"/>
              <a:t>:</a:t>
            </a:r>
            <a:r>
              <a:rPr lang="en-US" sz="2400" b="1" dirty="0"/>
              <a:t>Project Objectives </a:t>
            </a:r>
            <a:endParaRPr lang="ar-SY" sz="2400" b="1" dirty="0"/>
          </a:p>
          <a:p>
            <a:pPr marL="0" indent="0" algn="l">
              <a:buNone/>
            </a:pPr>
            <a:r>
              <a:rPr lang="en-US" sz="2100" dirty="0"/>
              <a:t>The primary goal of this project is to design and develop a "Smart Health Assistant" application that enhances health awareness and fosters positive habit formation among users.</a:t>
            </a:r>
            <a:endParaRPr lang="en-US" dirty="0"/>
          </a:p>
          <a:p>
            <a:pPr marL="0" indent="0" algn="l">
              <a:buNone/>
            </a:pPr>
            <a:endParaRPr lang="en-US" dirty="0"/>
          </a:p>
          <a:p>
            <a:pPr marL="0" indent="0" algn="l">
              <a:buNone/>
            </a:pPr>
            <a:endParaRPr lang="en-US" dirty="0"/>
          </a:p>
          <a:p>
            <a:pPr marL="0" indent="0" algn="l">
              <a:buNone/>
            </a:pPr>
            <a:endParaRPr lang="en-US" dirty="0"/>
          </a:p>
          <a:p>
            <a:pPr marL="0" indent="0" algn="l">
              <a:buNone/>
            </a:pPr>
            <a:endParaRPr lang="en-US" dirty="0"/>
          </a:p>
          <a:p>
            <a:pPr marL="0" indent="0" algn="l">
              <a:buNone/>
            </a:pPr>
            <a:endParaRPr lang="en-US" dirty="0"/>
          </a:p>
          <a:p>
            <a:pPr marL="0" indent="0" algn="l">
              <a:buNone/>
            </a:pPr>
            <a:endParaRPr lang="en-US" dirty="0"/>
          </a:p>
          <a:p>
            <a:pPr marL="0" indent="0" algn="l">
              <a:buNone/>
            </a:pPr>
            <a:endParaRPr lang="en-US" dirty="0"/>
          </a:p>
          <a:p>
            <a:pPr marL="0" indent="0" algn="l">
              <a:buNone/>
            </a:pPr>
            <a:endParaRPr lang="ar-SY" dirty="0"/>
          </a:p>
        </p:txBody>
      </p:sp>
    </p:spTree>
    <p:extLst>
      <p:ext uri="{BB962C8B-B14F-4D97-AF65-F5344CB8AC3E}">
        <p14:creationId xmlns:p14="http://schemas.microsoft.com/office/powerpoint/2010/main" val="46071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1-2-Objective:</a:t>
            </a:r>
            <a:endParaRPr lang="ar-SY" sz="2800" dirty="0"/>
          </a:p>
        </p:txBody>
      </p:sp>
      <p:sp>
        <p:nvSpPr>
          <p:cNvPr id="3" name="عنصر نائب للمحتوى 2"/>
          <p:cNvSpPr>
            <a:spLocks noGrp="1"/>
          </p:cNvSpPr>
          <p:nvPr>
            <p:ph idx="1"/>
          </p:nvPr>
        </p:nvSpPr>
        <p:spPr>
          <a:xfrm>
            <a:off x="467544" y="1628800"/>
            <a:ext cx="8229600" cy="4525963"/>
          </a:xfrm>
        </p:spPr>
        <p:txBody>
          <a:bodyPr>
            <a:normAutofit/>
          </a:bodyPr>
          <a:lstStyle/>
          <a:p>
            <a:pPr marL="0" lvl="0" indent="0" algn="l">
              <a:buNone/>
            </a:pPr>
            <a:r>
              <a:rPr lang="en-US" sz="2200" b="1" dirty="0"/>
              <a:t>Main Objective:</a:t>
            </a:r>
          </a:p>
          <a:p>
            <a:pPr marL="0" indent="0" algn="l">
              <a:buNone/>
            </a:pPr>
            <a:r>
              <a:rPr lang="en-US" sz="2000" b="1" i="1" dirty="0"/>
              <a:t>Tracking Vital Habits: </a:t>
            </a:r>
            <a:r>
              <a:rPr lang="en-US" sz="2200" dirty="0"/>
              <a:t>Providing a user-friendly interface to record and monitor daily sleep duration and water consumption. </a:t>
            </a:r>
            <a:endParaRPr lang="en-US" sz="2000" b="1" i="1" dirty="0"/>
          </a:p>
          <a:p>
            <a:pPr marL="0" indent="0" algn="l">
              <a:buNone/>
            </a:pPr>
            <a:r>
              <a:rPr lang="en-US" sz="2000" b="1" i="1" dirty="0"/>
              <a:t>Smart Analysis and Alerting: </a:t>
            </a:r>
            <a:r>
              <a:rPr lang="en-US" sz="2200" dirty="0"/>
              <a:t>Processing user data to deliver customized notifications and reminders at appropriate times, helping users adhere to their healthy routines. </a:t>
            </a:r>
            <a:endParaRPr lang="en-US" sz="2000" b="1" i="1" dirty="0"/>
          </a:p>
          <a:p>
            <a:pPr marL="0" indent="0" algn="l">
              <a:buNone/>
            </a:pPr>
            <a:r>
              <a:rPr lang="en-US" sz="2200" dirty="0"/>
              <a:t> </a:t>
            </a:r>
            <a:r>
              <a:rPr lang="en-US" sz="2000" b="1" i="1" dirty="0"/>
              <a:t>Sustainable Motivation: </a:t>
            </a:r>
            <a:r>
              <a:rPr lang="en-US" sz="2200" dirty="0"/>
              <a:t>Designing a User Experience (UX) that encourages long-term consistency and reduces the likelihood of abandoning the app. </a:t>
            </a:r>
          </a:p>
          <a:p>
            <a:pPr marL="0" indent="0" algn="l">
              <a:buNone/>
            </a:pPr>
            <a:r>
              <a:rPr lang="en-US" sz="2000" b="1" i="1" dirty="0"/>
              <a:t>Periodic Reporting: </a:t>
            </a:r>
            <a:r>
              <a:rPr lang="en-US" sz="2200" dirty="0"/>
              <a:t>Displaying weekly or monthly summaries that illustrate the user's progress and the impact of their commitment on overall well-being. </a:t>
            </a:r>
            <a:endParaRPr lang="ar-SY" sz="2200" dirty="0"/>
          </a:p>
        </p:txBody>
      </p:sp>
    </p:spTree>
    <p:extLst>
      <p:ext uri="{BB962C8B-B14F-4D97-AF65-F5344CB8AC3E}">
        <p14:creationId xmlns:p14="http://schemas.microsoft.com/office/powerpoint/2010/main" val="2461557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3-Project Scope, Constraints, and Assumptions </a:t>
            </a:r>
            <a:endParaRPr lang="ar-SY" sz="2800" dirty="0"/>
          </a:p>
        </p:txBody>
      </p:sp>
      <p:sp>
        <p:nvSpPr>
          <p:cNvPr id="3" name="عنصر نائب للمحتوى 2"/>
          <p:cNvSpPr>
            <a:spLocks noGrp="1"/>
          </p:cNvSpPr>
          <p:nvPr>
            <p:ph idx="1"/>
          </p:nvPr>
        </p:nvSpPr>
        <p:spPr/>
        <p:txBody>
          <a:bodyPr/>
          <a:lstStyle/>
          <a:p>
            <a:pPr marL="0" indent="0" algn="l">
              <a:buNone/>
            </a:pPr>
            <a:r>
              <a:rPr lang="en-US" sz="2200" b="1" dirty="0"/>
              <a:t>Scope: </a:t>
            </a:r>
            <a:r>
              <a:rPr lang="en-US" sz="2200" dirty="0"/>
              <a:t>The project covers the development of a mobile application with a dedicated backend to manage user profiles, track water and sleep data, and provide intelligent notification logic.</a:t>
            </a:r>
          </a:p>
          <a:p>
            <a:pPr marL="0" indent="0" algn="l">
              <a:buNone/>
            </a:pPr>
            <a:r>
              <a:rPr lang="en-US" sz="2200" b="1" dirty="0"/>
              <a:t>Constraints: </a:t>
            </a:r>
            <a:r>
              <a:rPr lang="en-US" sz="2200" dirty="0"/>
              <a:t>The development is limited to the academic semester timeline (ending in April 2026). It also relies on the availability of standard smartphone sensors and consistent internet for cloud syncing</a:t>
            </a:r>
            <a:r>
              <a:rPr lang="en-US" sz="2400" dirty="0"/>
              <a:t>.</a:t>
            </a:r>
          </a:p>
          <a:p>
            <a:pPr marL="0" indent="0" algn="l">
              <a:buNone/>
            </a:pPr>
            <a:r>
              <a:rPr lang="en-US" sz="2200" b="1" dirty="0"/>
              <a:t>Assumptions</a:t>
            </a:r>
            <a:r>
              <a:rPr lang="en-US" sz="2200" dirty="0"/>
              <a:t>: It is assumed that users possess basic smartphone literacy and that improving tracking habits will lead to better health outcomes for the target audience.</a:t>
            </a:r>
            <a:r>
              <a:rPr lang="en-US" sz="2400" dirty="0"/>
              <a:t>  </a:t>
            </a:r>
            <a:r>
              <a:rPr lang="en-US" sz="2200" dirty="0"/>
              <a:t> </a:t>
            </a:r>
            <a:endParaRPr lang="ar-SY" sz="2200" dirty="0"/>
          </a:p>
        </p:txBody>
      </p:sp>
    </p:spTree>
    <p:extLst>
      <p:ext uri="{BB962C8B-B14F-4D97-AF65-F5344CB8AC3E}">
        <p14:creationId xmlns:p14="http://schemas.microsoft.com/office/powerpoint/2010/main" val="504053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0"/>
            <a:ext cx="8229600" cy="1143000"/>
          </a:xfrm>
        </p:spPr>
        <p:txBody>
          <a:bodyPr>
            <a:normAutofit/>
          </a:bodyPr>
          <a:lstStyle/>
          <a:p>
            <a:pPr algn="l"/>
            <a:r>
              <a:rPr lang="en-US" sz="2400" b="1" dirty="0">
                <a:latin typeface="+mn-lt"/>
                <a:ea typeface="+mn-ea"/>
                <a:cs typeface="+mn-cs"/>
              </a:rPr>
              <a:t>4-Related Work &amp; Research Gap</a:t>
            </a:r>
            <a:br>
              <a:rPr lang="en-US" dirty="0"/>
            </a:br>
            <a:endParaRPr lang="ar-SY"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1876422727"/>
              </p:ext>
            </p:extLst>
          </p:nvPr>
        </p:nvGraphicFramePr>
        <p:xfrm>
          <a:off x="323528" y="692696"/>
          <a:ext cx="8285924" cy="6309360"/>
        </p:xfrm>
        <a:graphic>
          <a:graphicData uri="http://schemas.openxmlformats.org/drawingml/2006/table">
            <a:tbl>
              <a:tblPr rtl="1" firstRow="1" bandRow="1">
                <a:tableStyleId>{073A0DAA-6AF3-43AB-8588-CEC1D06C72B9}</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02244">
                  <a:extLst>
                    <a:ext uri="{9D8B030D-6E8A-4147-A177-3AD203B41FA5}">
                      <a16:colId xmlns:a16="http://schemas.microsoft.com/office/drawing/2014/main" val="20004"/>
                    </a:ext>
                  </a:extLst>
                </a:gridCol>
              </a:tblGrid>
              <a:tr h="370840">
                <a:tc>
                  <a:txBody>
                    <a:bodyPr/>
                    <a:lstStyle/>
                    <a:p>
                      <a:pPr algn="l" rtl="1"/>
                      <a:r>
                        <a:rPr lang="en-US" sz="1800" b="1" kern="1200" dirty="0">
                          <a:solidFill>
                            <a:schemeClr val="lt1"/>
                          </a:solidFill>
                          <a:latin typeface="+mn-lt"/>
                          <a:ea typeface="+mn-ea"/>
                          <a:cs typeface="+mn-cs"/>
                        </a:rPr>
                        <a:t>The solution is in our project</a:t>
                      </a:r>
                      <a:endParaRPr lang="ar-SY" sz="1800" b="1" kern="1200" dirty="0">
                        <a:solidFill>
                          <a:schemeClr val="lt1"/>
                        </a:solidFill>
                        <a:latin typeface="+mn-lt"/>
                        <a:ea typeface="+mn-ea"/>
                        <a:cs typeface="+mn-cs"/>
                      </a:endParaRPr>
                    </a:p>
                  </a:txBody>
                  <a:tcPr/>
                </a:tc>
                <a:tc>
                  <a:txBody>
                    <a:bodyPr/>
                    <a:lstStyle/>
                    <a:p>
                      <a:pPr algn="l" rtl="1"/>
                      <a:r>
                        <a:rPr lang="en-US" sz="1800" b="1" kern="1200" dirty="0">
                          <a:solidFill>
                            <a:schemeClr val="lt1"/>
                          </a:solidFill>
                          <a:latin typeface="+mn-lt"/>
                          <a:ea typeface="+mn-ea"/>
                          <a:cs typeface="+mn-cs"/>
                        </a:rPr>
                        <a:t>Weaknesses</a:t>
                      </a:r>
                      <a:endParaRPr lang="ar-SY" sz="1800" b="1" kern="1200" dirty="0">
                        <a:solidFill>
                          <a:schemeClr val="lt1"/>
                        </a:solidFill>
                        <a:latin typeface="+mn-lt"/>
                        <a:ea typeface="+mn-ea"/>
                        <a:cs typeface="+mn-cs"/>
                      </a:endParaRPr>
                    </a:p>
                  </a:txBody>
                  <a:tcPr/>
                </a:tc>
                <a:tc>
                  <a:txBody>
                    <a:bodyPr/>
                    <a:lstStyle/>
                    <a:p>
                      <a:pPr algn="l" rtl="1"/>
                      <a:r>
                        <a:rPr lang="en-US" sz="1800" b="1" kern="1200" dirty="0">
                          <a:solidFill>
                            <a:schemeClr val="lt1"/>
                          </a:solidFill>
                          <a:latin typeface="+mn-lt"/>
                          <a:ea typeface="+mn-ea"/>
                          <a:cs typeface="+mn-cs"/>
                        </a:rPr>
                        <a:t>Strengths</a:t>
                      </a:r>
                      <a:endParaRPr lang="ar-SY" sz="1800" b="1" kern="1200" dirty="0">
                        <a:solidFill>
                          <a:schemeClr val="lt1"/>
                        </a:solidFill>
                        <a:latin typeface="+mn-lt"/>
                        <a:ea typeface="+mn-ea"/>
                        <a:cs typeface="+mn-cs"/>
                      </a:endParaRPr>
                    </a:p>
                  </a:txBody>
                  <a:tcPr/>
                </a:tc>
                <a:tc>
                  <a:txBody>
                    <a:bodyPr/>
                    <a:lstStyle/>
                    <a:p>
                      <a:pPr algn="l" rtl="1"/>
                      <a:r>
                        <a:rPr lang="en-US" dirty="0"/>
                        <a:t>The main focus</a:t>
                      </a:r>
                      <a:endParaRPr lang="ar-SY" dirty="0"/>
                    </a:p>
                  </a:txBody>
                  <a:tcPr/>
                </a:tc>
                <a:tc>
                  <a:txBody>
                    <a:bodyPr/>
                    <a:lstStyle/>
                    <a:p>
                      <a:pPr algn="l" rtl="1"/>
                      <a:r>
                        <a:rPr lang="en-US" dirty="0"/>
                        <a:t>For the similar application/system</a:t>
                      </a:r>
                      <a:endParaRPr lang="ar-SY" dirty="0"/>
                    </a:p>
                  </a:txBody>
                  <a:tcPr/>
                </a:tc>
                <a:extLst>
                  <a:ext uri="{0D108BD9-81ED-4DB2-BD59-A6C34878D82A}">
                    <a16:rowId xmlns:a16="http://schemas.microsoft.com/office/drawing/2014/main" val="10000"/>
                  </a:ext>
                </a:extLst>
              </a:tr>
              <a:tr h="1533872">
                <a:tc>
                  <a:txBody>
                    <a:bodyPr/>
                    <a:lstStyle/>
                    <a:p>
                      <a:pPr algn="l" rtl="1"/>
                      <a:r>
                        <a:rPr lang="en-US" sz="1400" b="0" i="0" kern="1200" dirty="0">
                          <a:solidFill>
                            <a:schemeClr val="dk1"/>
                          </a:solidFill>
                          <a:effectLst/>
                          <a:latin typeface="+mn-lt"/>
                          <a:ea typeface="+mn-ea"/>
                          <a:cs typeface="+mn-cs"/>
                        </a:rPr>
                        <a:t>Data linking: Integrating sleep data with water drinking rate to provide comprehensive recommendations that explain the causes of fatigue</a:t>
                      </a:r>
                      <a:endParaRPr lang="ar-SY" sz="1400" dirty="0"/>
                    </a:p>
                  </a:txBody>
                  <a:tcPr/>
                </a:tc>
                <a:tc>
                  <a:txBody>
                    <a:bodyPr/>
                    <a:lstStyle/>
                    <a:p>
                      <a:pPr algn="l" rtl="1"/>
                      <a:r>
                        <a:rPr lang="en-US" sz="1400" b="0" i="0" kern="1200" dirty="0">
                          <a:solidFill>
                            <a:schemeClr val="dk1"/>
                          </a:solidFill>
                          <a:effectLst/>
                          <a:latin typeface="+mn-lt"/>
                          <a:ea typeface="+mn-ea"/>
                          <a:cs typeface="+mn-cs"/>
                        </a:rPr>
                        <a:t>It operates independently of the rest of the habits; it does not link sleep quality to water consumption or daily exertion</a:t>
                      </a:r>
                      <a:endParaRPr lang="ar-SY" sz="1400" dirty="0"/>
                    </a:p>
                  </a:txBody>
                  <a:tcPr/>
                </a:tc>
                <a:tc>
                  <a:txBody>
                    <a:bodyPr/>
                    <a:lstStyle/>
                    <a:p>
                      <a:pPr algn="l" rtl="1"/>
                      <a:r>
                        <a:rPr lang="en-US" sz="1400" b="0" i="0" kern="1200" dirty="0">
                          <a:solidFill>
                            <a:schemeClr val="dk1"/>
                          </a:solidFill>
                          <a:effectLst/>
                          <a:latin typeface="+mn-lt"/>
                          <a:ea typeface="+mn-ea"/>
                          <a:cs typeface="+mn-cs"/>
                        </a:rPr>
                        <a:t>Detailed sleep quality reports, and a smart alarm that actively wakes the user</a:t>
                      </a:r>
                      <a:endParaRPr lang="ar-SY" sz="1400" dirty="0"/>
                    </a:p>
                  </a:txBody>
                  <a:tcPr/>
                </a:tc>
                <a:tc>
                  <a:txBody>
                    <a:bodyPr/>
                    <a:lstStyle/>
                    <a:p>
                      <a:pPr algn="l" rtl="1"/>
                      <a:r>
                        <a:rPr lang="en-US" sz="1400" b="0" i="0" kern="1200" dirty="0">
                          <a:solidFill>
                            <a:schemeClr val="dk1"/>
                          </a:solidFill>
                          <a:effectLst/>
                          <a:latin typeface="+mn-lt"/>
                          <a:ea typeface="+mn-ea"/>
                          <a:cs typeface="+mn-cs"/>
                        </a:rPr>
                        <a:t>Analysis of sleep patterns and stages in detail</a:t>
                      </a:r>
                      <a:endParaRPr lang="ar-SY" sz="1400" dirty="0"/>
                    </a:p>
                  </a:txBody>
                  <a:tcPr/>
                </a:tc>
                <a:tc>
                  <a:txBody>
                    <a:bodyPr/>
                    <a:lstStyle/>
                    <a:p>
                      <a:pPr algn="l" rtl="1"/>
                      <a:r>
                        <a:rPr lang="en-US" sz="1800" b="1" kern="1200" dirty="0">
                          <a:solidFill>
                            <a:schemeClr val="tx1"/>
                          </a:solidFill>
                          <a:latin typeface="+mn-lt"/>
                          <a:ea typeface="+mn-ea"/>
                          <a:cs typeface="+mn-cs"/>
                        </a:rPr>
                        <a:t>Sleep Tracking Applications (Sleep Cycle)</a:t>
                      </a:r>
                      <a:endParaRPr lang="ar-SY" sz="1800" b="1" kern="1200" dirty="0">
                        <a:solidFill>
                          <a:schemeClr val="tx1"/>
                        </a:solidFill>
                        <a:latin typeface="+mn-lt"/>
                        <a:ea typeface="+mn-ea"/>
                        <a:cs typeface="+mn-cs"/>
                      </a:endParaRPr>
                    </a:p>
                  </a:txBody>
                  <a:tcPr/>
                </a:tc>
                <a:extLst>
                  <a:ext uri="{0D108BD9-81ED-4DB2-BD59-A6C34878D82A}">
                    <a16:rowId xmlns:a16="http://schemas.microsoft.com/office/drawing/2014/main" val="10001"/>
                  </a:ext>
                </a:extLst>
              </a:tr>
              <a:tr h="1524704">
                <a:tc>
                  <a:txBody>
                    <a:bodyPr/>
                    <a:lstStyle/>
                    <a:p>
                      <a:pPr algn="l" rtl="1"/>
                      <a:r>
                        <a:rPr lang="en-US" sz="1400" b="0" i="0" kern="1200" dirty="0">
                          <a:solidFill>
                            <a:schemeClr val="dk1"/>
                          </a:solidFill>
                          <a:effectLst/>
                          <a:latin typeface="+mn-lt"/>
                          <a:ea typeface="+mn-ea"/>
                          <a:cs typeface="+mn-cs"/>
                        </a:rPr>
                        <a:t>Smart notifications: Using algorithms that adapt to the user's schedule to send alerts at the appropriate time only.</a:t>
                      </a:r>
                      <a:endParaRPr lang="ar-SY" sz="1400" dirty="0"/>
                    </a:p>
                  </a:txBody>
                  <a:tcPr/>
                </a:tc>
                <a:tc>
                  <a:txBody>
                    <a:bodyPr/>
                    <a:lstStyle/>
                    <a:p>
                      <a:pPr algn="l" rtl="1"/>
                      <a:r>
                        <a:rPr lang="en-US" sz="1400" b="0" i="0" kern="1200" dirty="0">
                          <a:solidFill>
                            <a:schemeClr val="dk1"/>
                          </a:solidFill>
                          <a:effectLst/>
                          <a:latin typeface="+mn-lt"/>
                          <a:ea typeface="+mn-ea"/>
                          <a:cs typeface="+mn-cs"/>
                        </a:rPr>
                        <a:t>"Blind" notifications may disturb the student during lectures or nap times</a:t>
                      </a:r>
                      <a:endParaRPr lang="ar-SY" sz="1400" dirty="0"/>
                    </a:p>
                  </a:txBody>
                  <a:tcPr/>
                </a:tc>
                <a:tc>
                  <a:txBody>
                    <a:bodyPr/>
                    <a:lstStyle/>
                    <a:p>
                      <a:pPr algn="l" rtl="1"/>
                      <a:r>
                        <a:rPr lang="en-US" sz="1400" b="0" i="0" kern="1200" dirty="0">
                          <a:solidFill>
                            <a:schemeClr val="dk1"/>
                          </a:solidFill>
                          <a:effectLst/>
                          <a:latin typeface="+mn-lt"/>
                          <a:ea typeface="+mn-ea"/>
                          <a:cs typeface="+mn-cs"/>
                        </a:rPr>
                        <a:t>A very simple interface, and speed in data entry</a:t>
                      </a:r>
                      <a:endParaRPr lang="ar-SY" sz="1400" dirty="0"/>
                    </a:p>
                  </a:txBody>
                  <a:tcPr/>
                </a:tc>
                <a:tc>
                  <a:txBody>
                    <a:bodyPr/>
                    <a:lstStyle/>
                    <a:p>
                      <a:pPr algn="l" rtl="1"/>
                      <a:r>
                        <a:rPr lang="en-US" sz="1400" b="0" i="0" kern="1200" dirty="0">
                          <a:solidFill>
                            <a:schemeClr val="dk1"/>
                          </a:solidFill>
                          <a:effectLst/>
                          <a:latin typeface="+mn-lt"/>
                          <a:ea typeface="+mn-ea"/>
                          <a:cs typeface="+mn-cs"/>
                        </a:rPr>
                        <a:t>Track the amount of fluids consumed and send notifications to</a:t>
                      </a:r>
                      <a:endParaRPr lang="ar-SY" sz="1400" dirty="0"/>
                    </a:p>
                  </a:txBody>
                  <a:tcPr/>
                </a:tc>
                <a:tc>
                  <a:txBody>
                    <a:bodyPr/>
                    <a:lstStyle/>
                    <a:p>
                      <a:pPr algn="l" rtl="1"/>
                      <a:r>
                        <a:rPr lang="en-US" sz="1800" b="1" kern="1200" dirty="0">
                          <a:solidFill>
                            <a:schemeClr val="tx1"/>
                          </a:solidFill>
                          <a:latin typeface="+mn-lt"/>
                          <a:ea typeface="+mn-ea"/>
                          <a:cs typeface="+mn-cs"/>
                        </a:rPr>
                        <a:t>Water reminder applications (</a:t>
                      </a:r>
                      <a:r>
                        <a:rPr lang="en-US" sz="1800" b="1" kern="1200" dirty="0" err="1">
                          <a:solidFill>
                            <a:schemeClr val="tx1"/>
                          </a:solidFill>
                          <a:latin typeface="+mn-lt"/>
                          <a:ea typeface="+mn-ea"/>
                          <a:cs typeface="+mn-cs"/>
                        </a:rPr>
                        <a:t>WaterMinder</a:t>
                      </a:r>
                      <a:r>
                        <a:rPr lang="en-US" sz="1800" b="1" kern="1200" dirty="0">
                          <a:solidFill>
                            <a:schemeClr val="tx1"/>
                          </a:solidFill>
                          <a:latin typeface="+mn-lt"/>
                          <a:ea typeface="+mn-ea"/>
                          <a:cs typeface="+mn-cs"/>
                        </a:rPr>
                        <a:t>)</a:t>
                      </a:r>
                      <a:endParaRPr lang="ar-SY" sz="1800" b="1" kern="1200" dirty="0">
                        <a:solidFill>
                          <a:schemeClr val="tx1"/>
                        </a:solidFill>
                        <a:latin typeface="+mn-lt"/>
                        <a:ea typeface="+mn-ea"/>
                        <a:cs typeface="+mn-cs"/>
                      </a:endParaRPr>
                    </a:p>
                  </a:txBody>
                  <a:tcPr/>
                </a:tc>
                <a:extLst>
                  <a:ext uri="{0D108BD9-81ED-4DB2-BD59-A6C34878D82A}">
                    <a16:rowId xmlns:a16="http://schemas.microsoft.com/office/drawing/2014/main" val="10002"/>
                  </a:ext>
                </a:extLst>
              </a:tr>
              <a:tr h="1731560">
                <a:tc>
                  <a:txBody>
                    <a:bodyPr/>
                    <a:lstStyle/>
                    <a:p>
                      <a:pPr algn="l" rtl="1"/>
                      <a:r>
                        <a:rPr lang="en-US" sz="1400" b="0" i="0" kern="1200" dirty="0">
                          <a:solidFill>
                            <a:schemeClr val="dk1"/>
                          </a:solidFill>
                          <a:effectLst/>
                          <a:latin typeface="+mn-lt"/>
                          <a:ea typeface="+mn-ea"/>
                          <a:cs typeface="+mn-cs"/>
                        </a:rPr>
                        <a:t>Simplified interface: A design that focuses only on basic habits to reduce distraction and lower the learning curve for a smooth experience</a:t>
                      </a:r>
                      <a:endParaRPr lang="ar-SY" sz="1400" dirty="0"/>
                    </a:p>
                  </a:txBody>
                  <a:tcPr/>
                </a:tc>
                <a:tc>
                  <a:txBody>
                    <a:bodyPr/>
                    <a:lstStyle/>
                    <a:p>
                      <a:pPr algn="l" rtl="1"/>
                      <a:r>
                        <a:rPr lang="en-US" sz="1400" b="0" i="0" kern="1200" dirty="0">
                          <a:solidFill>
                            <a:schemeClr val="dk1"/>
                          </a:solidFill>
                          <a:effectLst/>
                          <a:latin typeface="+mn-lt"/>
                          <a:ea typeface="+mn-ea"/>
                          <a:cs typeface="+mn-cs"/>
                        </a:rPr>
                        <a:t>Complex interfaces crowded with details distract the simple user.</a:t>
                      </a:r>
                      <a:endParaRPr lang="ar-SY" sz="1400" dirty="0"/>
                    </a:p>
                  </a:txBody>
                  <a:tcPr/>
                </a:tc>
                <a:tc>
                  <a:txBody>
                    <a:bodyPr/>
                    <a:lstStyle/>
                    <a:p>
                      <a:pPr algn="l" rtl="1"/>
                      <a:r>
                        <a:rPr lang="en-US" sz="1400" b="0" i="0" kern="1200" dirty="0">
                          <a:solidFill>
                            <a:schemeClr val="dk1"/>
                          </a:solidFill>
                          <a:effectLst/>
                          <a:latin typeface="+mn-lt"/>
                          <a:ea typeface="+mn-ea"/>
                          <a:cs typeface="+mn-cs"/>
                        </a:rPr>
                        <a:t>High motivation for users to ensure continuity through the '</a:t>
                      </a:r>
                      <a:r>
                        <a:rPr lang="en-US" sz="1400" b="0" i="0" kern="1200" dirty="0" err="1">
                          <a:solidFill>
                            <a:schemeClr val="dk1"/>
                          </a:solidFill>
                          <a:effectLst/>
                          <a:latin typeface="+mn-lt"/>
                          <a:ea typeface="+mn-ea"/>
                          <a:cs typeface="+mn-cs"/>
                        </a:rPr>
                        <a:t>Gamification</a:t>
                      </a:r>
                      <a:r>
                        <a:rPr lang="en-US" sz="1400" b="0" i="0" kern="1200" dirty="0">
                          <a:solidFill>
                            <a:schemeClr val="dk1"/>
                          </a:solidFill>
                          <a:effectLst/>
                          <a:latin typeface="+mn-lt"/>
                          <a:ea typeface="+mn-ea"/>
                          <a:cs typeface="+mn-cs"/>
                        </a:rPr>
                        <a:t>' approach</a:t>
                      </a:r>
                      <a:endParaRPr lang="ar-SY" sz="1400" dirty="0"/>
                    </a:p>
                  </a:txBody>
                  <a:tcPr/>
                </a:tc>
                <a:tc>
                  <a:txBody>
                    <a:bodyPr/>
                    <a:lstStyle/>
                    <a:p>
                      <a:pPr algn="l" rtl="1"/>
                      <a:r>
                        <a:rPr lang="en-US" sz="1400" b="0" i="0" kern="1200" dirty="0">
                          <a:solidFill>
                            <a:schemeClr val="dk1"/>
                          </a:solidFill>
                          <a:effectLst/>
                          <a:latin typeface="+mn-lt"/>
                          <a:ea typeface="+mn-ea"/>
                          <a:cs typeface="+mn-cs"/>
                        </a:rPr>
                        <a:t>A huge set of daily habits and diets</a:t>
                      </a:r>
                      <a:endParaRPr lang="ar-SY" sz="1400" dirty="0"/>
                    </a:p>
                  </a:txBody>
                  <a:tcPr/>
                </a:tc>
                <a:tc>
                  <a:txBody>
                    <a:bodyPr/>
                    <a:lstStyle/>
                    <a:p>
                      <a:pPr algn="l" rtl="1"/>
                      <a:r>
                        <a:rPr lang="en-US" sz="1800" b="1" kern="1200" dirty="0">
                          <a:solidFill>
                            <a:schemeClr val="tx1"/>
                          </a:solidFill>
                          <a:latin typeface="+mn-lt"/>
                          <a:ea typeface="+mn-ea"/>
                          <a:cs typeface="+mn-cs"/>
                        </a:rPr>
                        <a:t>Comprehensive systems (</a:t>
                      </a:r>
                      <a:r>
                        <a:rPr lang="en-US" sz="1800" b="1" kern="1200" dirty="0" err="1">
                          <a:solidFill>
                            <a:schemeClr val="tx1"/>
                          </a:solidFill>
                          <a:latin typeface="+mn-lt"/>
                          <a:ea typeface="+mn-ea"/>
                          <a:cs typeface="+mn-cs"/>
                        </a:rPr>
                        <a:t>Habitica</a:t>
                      </a:r>
                      <a:r>
                        <a:rPr lang="en-US" sz="1800" b="1" kern="1200" dirty="0">
                          <a:solidFill>
                            <a:schemeClr val="tx1"/>
                          </a:solidFill>
                          <a:latin typeface="+mn-lt"/>
                          <a:ea typeface="+mn-ea"/>
                          <a:cs typeface="+mn-cs"/>
                        </a:rPr>
                        <a:t>)</a:t>
                      </a:r>
                      <a:endParaRPr lang="ar-SY" sz="1800" b="1" kern="1200" dirty="0">
                        <a:solidFill>
                          <a:schemeClr val="tx1"/>
                        </a:solidFill>
                        <a:latin typeface="+mn-lt"/>
                        <a:ea typeface="+mn-ea"/>
                        <a:cs typeface="+mn-cs"/>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1589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3100" dirty="0"/>
              <a:t>5-Development Methodology &amp; Project Plan</a:t>
            </a:r>
            <a:endParaRPr lang="ar-SY" sz="3100" dirty="0"/>
          </a:p>
        </p:txBody>
      </p:sp>
      <p:sp>
        <p:nvSpPr>
          <p:cNvPr id="3" name="عنصر نائب للمحتوى 2"/>
          <p:cNvSpPr>
            <a:spLocks noGrp="1"/>
          </p:cNvSpPr>
          <p:nvPr>
            <p:ph idx="1"/>
          </p:nvPr>
        </p:nvSpPr>
        <p:spPr/>
        <p:txBody>
          <a:bodyPr>
            <a:normAutofit lnSpcReduction="10000"/>
          </a:bodyPr>
          <a:lstStyle/>
          <a:p>
            <a:pPr marL="0" indent="0" algn="l">
              <a:buNone/>
            </a:pPr>
            <a:r>
              <a:rPr lang="en-US" sz="2200" b="1" dirty="0"/>
              <a:t>Waterfall Methodology: </a:t>
            </a:r>
            <a:r>
              <a:rPr lang="en-US" sz="2200" dirty="0"/>
              <a:t>This traditional approach was chosen due to the clear, well-defined requirements established at the beginning of the academic semester. The project progressed linearly through specific phases: Requirements Analysis, System Design, Implementation, Testing, and Deployment, ensuring each phase was fully documented and verified before moving to the next.</a:t>
            </a:r>
          </a:p>
          <a:p>
            <a:pPr marL="0" indent="0" algn="l">
              <a:buNone/>
            </a:pPr>
            <a:r>
              <a:rPr lang="en-US" sz="2200" b="1" dirty="0"/>
              <a:t>Tools: </a:t>
            </a:r>
          </a:p>
          <a:p>
            <a:pPr marL="0" indent="0" algn="l">
              <a:buNone/>
            </a:pPr>
            <a:r>
              <a:rPr lang="en-US" sz="2200" b="1" i="1" dirty="0"/>
              <a:t>Flutter:</a:t>
            </a:r>
            <a:r>
              <a:rPr lang="en-US" sz="2400" dirty="0"/>
              <a:t> For creating a responsive and unified user interface across mobile platforms. </a:t>
            </a:r>
          </a:p>
          <a:p>
            <a:pPr marL="0" indent="0" algn="l">
              <a:buNone/>
            </a:pPr>
            <a:r>
              <a:rPr lang="en-US" sz="2200" b="1" i="1" dirty="0"/>
              <a:t>Python:</a:t>
            </a:r>
            <a:r>
              <a:rPr lang="en-US" sz="2400" dirty="0"/>
              <a:t> For backend logic, processing hydration algorithms, and managing notification scheduling. </a:t>
            </a:r>
          </a:p>
          <a:p>
            <a:pPr marL="0" indent="0" algn="l">
              <a:buNone/>
            </a:pPr>
            <a:r>
              <a:rPr lang="en-US" sz="2200" b="1" i="1" dirty="0"/>
              <a:t>MySQL &amp; SQLite:</a:t>
            </a:r>
            <a:r>
              <a:rPr lang="en-US" sz="2400" b="1" i="1" dirty="0"/>
              <a:t> </a:t>
            </a:r>
            <a:r>
              <a:rPr lang="en-US" sz="2400" dirty="0"/>
              <a:t>Used for cloud synchronization and local data persistence respectively, ensuring offline functionality.</a:t>
            </a:r>
            <a:endParaRPr lang="ar-SY" sz="2200" b="1" dirty="0"/>
          </a:p>
        </p:txBody>
      </p:sp>
    </p:spTree>
    <p:extLst>
      <p:ext uri="{BB962C8B-B14F-4D97-AF65-F5344CB8AC3E}">
        <p14:creationId xmlns:p14="http://schemas.microsoft.com/office/powerpoint/2010/main" val="229534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6-Project Timeline (Gantt Chart) </a:t>
            </a:r>
            <a:endParaRPr lang="ar-SY" sz="28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700808"/>
            <a:ext cx="8964488"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7249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3100" dirty="0"/>
              <a:t>7-Functional Requirements (FR):</a:t>
            </a:r>
            <a:endParaRPr lang="ar-SY" sz="3100" dirty="0"/>
          </a:p>
        </p:txBody>
      </p:sp>
      <p:sp>
        <p:nvSpPr>
          <p:cNvPr id="3" name="عنصر نائب للمحتوى 2"/>
          <p:cNvSpPr>
            <a:spLocks noGrp="1"/>
          </p:cNvSpPr>
          <p:nvPr>
            <p:ph idx="1"/>
          </p:nvPr>
        </p:nvSpPr>
        <p:spPr/>
        <p:txBody>
          <a:bodyPr>
            <a:normAutofit/>
          </a:bodyPr>
          <a:lstStyle/>
          <a:p>
            <a:pPr marL="0" indent="0" algn="l">
              <a:buNone/>
            </a:pPr>
            <a:r>
              <a:rPr lang="ar-SY" dirty="0"/>
              <a:t>   </a:t>
            </a:r>
          </a:p>
        </p:txBody>
      </p:sp>
      <p:graphicFrame>
        <p:nvGraphicFramePr>
          <p:cNvPr id="11" name="جدول 10"/>
          <p:cNvGraphicFramePr>
            <a:graphicFrameLocks noGrp="1"/>
          </p:cNvGraphicFramePr>
          <p:nvPr>
            <p:extLst>
              <p:ext uri="{D42A27DB-BD31-4B8C-83A1-F6EECF244321}">
                <p14:modId xmlns:p14="http://schemas.microsoft.com/office/powerpoint/2010/main" val="533498182"/>
              </p:ext>
            </p:extLst>
          </p:nvPr>
        </p:nvGraphicFramePr>
        <p:xfrm>
          <a:off x="1403648" y="1340768"/>
          <a:ext cx="6096000" cy="4464496"/>
        </p:xfrm>
        <a:graphic>
          <a:graphicData uri="http://schemas.openxmlformats.org/drawingml/2006/table">
            <a:tbl>
              <a:tblPr rtl="1" firstRow="1" bandRow="1">
                <a:tableStyleId>{D7AC3CCA-C797-4891-BE02-D94E43425B78}</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504056">
                <a:tc>
                  <a:txBody>
                    <a:bodyPr/>
                    <a:lstStyle/>
                    <a:p>
                      <a:pPr algn="l" rtl="1"/>
                      <a:r>
                        <a:rPr lang="en-US" sz="1800" b="0" i="0" kern="1200" dirty="0">
                          <a:solidFill>
                            <a:schemeClr val="dk1"/>
                          </a:solidFill>
                          <a:effectLst/>
                          <a:latin typeface="+mn-lt"/>
                          <a:ea typeface="+mn-ea"/>
                          <a:cs typeface="+mn-cs"/>
                        </a:rPr>
                        <a:t>Add a shortcut on the screen</a:t>
                      </a:r>
                      <a:endParaRPr lang="ar-SY" dirty="0"/>
                    </a:p>
                  </a:txBody>
                  <a:tcPr/>
                </a:tc>
                <a:tc>
                  <a:txBody>
                    <a:bodyPr/>
                    <a:lstStyle/>
                    <a:p>
                      <a:pPr marL="0" algn="l" defTabSz="914400" rtl="1" eaLnBrk="1" latinLnBrk="0" hangingPunct="1"/>
                      <a:r>
                        <a:rPr lang="en-US" sz="1800" b="0" kern="1200" dirty="0">
                          <a:solidFill>
                            <a:schemeClr val="dk1"/>
                          </a:solidFill>
                          <a:latin typeface="+mn-lt"/>
                          <a:ea typeface="+mn-ea"/>
                          <a:cs typeface="+mn-cs"/>
                        </a:rPr>
                        <a:t>Login and create</a:t>
                      </a:r>
                      <a:endParaRPr lang="ar-SY" sz="1800" b="0" kern="1200" dirty="0">
                        <a:solidFill>
                          <a:schemeClr val="dk1"/>
                        </a:solidFill>
                        <a:latin typeface="+mn-lt"/>
                        <a:ea typeface="+mn-ea"/>
                        <a:cs typeface="+mn-cs"/>
                      </a:endParaRPr>
                    </a:p>
                  </a:txBody>
                  <a:tcPr/>
                </a:tc>
                <a:extLst>
                  <a:ext uri="{0D108BD9-81ED-4DB2-BD59-A6C34878D82A}">
                    <a16:rowId xmlns:a16="http://schemas.microsoft.com/office/drawing/2014/main" val="10000"/>
                  </a:ext>
                </a:extLst>
              </a:tr>
              <a:tr h="504056">
                <a:tc>
                  <a:txBody>
                    <a:bodyPr/>
                    <a:lstStyle/>
                    <a:p>
                      <a:pPr algn="l" rtl="1"/>
                      <a:r>
                        <a:rPr lang="en-US" sz="1800" b="0" i="0" kern="1200" dirty="0">
                          <a:solidFill>
                            <a:schemeClr val="dk1"/>
                          </a:solidFill>
                          <a:effectLst/>
                          <a:latin typeface="+mn-lt"/>
                          <a:ea typeface="+mn-ea"/>
                          <a:cs typeface="+mn-cs"/>
                        </a:rPr>
                        <a:t>Export reports</a:t>
                      </a:r>
                      <a:endParaRPr lang="ar-SY" dirty="0"/>
                    </a:p>
                  </a:txBody>
                  <a:tcPr/>
                </a:tc>
                <a:tc>
                  <a:txBody>
                    <a:bodyPr/>
                    <a:lstStyle/>
                    <a:p>
                      <a:pPr algn="l" rtl="1"/>
                      <a:r>
                        <a:rPr lang="en-US" dirty="0"/>
                        <a:t>Recording</a:t>
                      </a:r>
                      <a:r>
                        <a:rPr lang="en-US" baseline="0" dirty="0"/>
                        <a:t>  sleep hours</a:t>
                      </a:r>
                    </a:p>
                  </a:txBody>
                  <a:tcPr/>
                </a:tc>
                <a:extLst>
                  <a:ext uri="{0D108BD9-81ED-4DB2-BD59-A6C34878D82A}">
                    <a16:rowId xmlns:a16="http://schemas.microsoft.com/office/drawing/2014/main" val="10001"/>
                  </a:ext>
                </a:extLst>
              </a:tr>
              <a:tr h="792088">
                <a:tc>
                  <a:txBody>
                    <a:bodyPr/>
                    <a:lstStyle/>
                    <a:p>
                      <a:pPr algn="l" rtl="1"/>
                      <a:r>
                        <a:rPr lang="en-US" sz="1800" b="0" i="0" kern="1200" dirty="0">
                          <a:solidFill>
                            <a:schemeClr val="dk1"/>
                          </a:solidFill>
                          <a:effectLst/>
                          <a:latin typeface="+mn-lt"/>
                          <a:ea typeface="+mn-ea"/>
                          <a:cs typeface="+mn-cs"/>
                        </a:rPr>
                        <a:t>Recording the amount of water consumed</a:t>
                      </a:r>
                      <a:endParaRPr lang="ar-SY" dirty="0"/>
                    </a:p>
                  </a:txBody>
                  <a:tcPr/>
                </a:tc>
                <a:tc>
                  <a:txBody>
                    <a:bodyPr/>
                    <a:lstStyle/>
                    <a:p>
                      <a:pPr algn="l" rtl="1"/>
                      <a:r>
                        <a:rPr lang="en-US" dirty="0"/>
                        <a:t>Bedtime alarm</a:t>
                      </a:r>
                      <a:endParaRPr lang="ar-SY" dirty="0"/>
                    </a:p>
                  </a:txBody>
                  <a:tcPr/>
                </a:tc>
                <a:extLst>
                  <a:ext uri="{0D108BD9-81ED-4DB2-BD59-A6C34878D82A}">
                    <a16:rowId xmlns:a16="http://schemas.microsoft.com/office/drawing/2014/main" val="10002"/>
                  </a:ext>
                </a:extLst>
              </a:tr>
              <a:tr h="504056">
                <a:tc>
                  <a:txBody>
                    <a:bodyPr/>
                    <a:lstStyle/>
                    <a:p>
                      <a:pPr algn="l" rtl="1"/>
                      <a:r>
                        <a:rPr lang="en-US" sz="1800" b="0" i="0" kern="1200" dirty="0">
                          <a:solidFill>
                            <a:schemeClr val="dk1"/>
                          </a:solidFill>
                          <a:effectLst/>
                          <a:latin typeface="+mn-lt"/>
                          <a:ea typeface="+mn-ea"/>
                          <a:cs typeface="+mn-cs"/>
                        </a:rPr>
                        <a:t>Smart water notifications</a:t>
                      </a:r>
                      <a:endParaRPr lang="ar-SY" dirty="0"/>
                    </a:p>
                  </a:txBody>
                  <a:tcPr/>
                </a:tc>
                <a:tc>
                  <a:txBody>
                    <a:bodyPr/>
                    <a:lstStyle/>
                    <a:p>
                      <a:pPr algn="l" rtl="1"/>
                      <a:r>
                        <a:rPr lang="en-US" dirty="0"/>
                        <a:t>Manually editing the goals</a:t>
                      </a:r>
                      <a:endParaRPr lang="ar-SY" dirty="0"/>
                    </a:p>
                  </a:txBody>
                  <a:tcPr/>
                </a:tc>
                <a:extLst>
                  <a:ext uri="{0D108BD9-81ED-4DB2-BD59-A6C34878D82A}">
                    <a16:rowId xmlns:a16="http://schemas.microsoft.com/office/drawing/2014/main" val="10003"/>
                  </a:ext>
                </a:extLst>
              </a:tr>
              <a:tr h="576064">
                <a:tc>
                  <a:txBody>
                    <a:bodyPr/>
                    <a:lstStyle/>
                    <a:p>
                      <a:pPr algn="l" rtl="1"/>
                      <a:r>
                        <a:rPr lang="en-US" sz="1800" b="0" i="0" kern="1200" dirty="0">
                          <a:solidFill>
                            <a:schemeClr val="dk1"/>
                          </a:solidFill>
                          <a:effectLst/>
                          <a:latin typeface="+mn-lt"/>
                          <a:ea typeface="+mn-ea"/>
                          <a:cs typeface="+mn-cs"/>
                        </a:rPr>
                        <a:t>Achievements system</a:t>
                      </a:r>
                      <a:endParaRPr lang="ar-SY" dirty="0"/>
                    </a:p>
                  </a:txBody>
                  <a:tcPr/>
                </a:tc>
                <a:tc>
                  <a:txBody>
                    <a:bodyPr/>
                    <a:lstStyle/>
                    <a:p>
                      <a:pPr algn="l" rtl="1"/>
                      <a:r>
                        <a:rPr lang="en-US" dirty="0"/>
                        <a:t>Beverage customization</a:t>
                      </a:r>
                      <a:endParaRPr lang="ar-SY" dirty="0"/>
                    </a:p>
                  </a:txBody>
                  <a:tcPr/>
                </a:tc>
                <a:extLst>
                  <a:ext uri="{0D108BD9-81ED-4DB2-BD59-A6C34878D82A}">
                    <a16:rowId xmlns:a16="http://schemas.microsoft.com/office/drawing/2014/main" val="10004"/>
                  </a:ext>
                </a:extLst>
              </a:tr>
              <a:tr h="504056">
                <a:tc>
                  <a:txBody>
                    <a:bodyPr/>
                    <a:lstStyle/>
                    <a:p>
                      <a:pPr algn="l" rtl="1"/>
                      <a:r>
                        <a:rPr lang="en-US" sz="1800" b="0" i="0" kern="1200" dirty="0">
                          <a:solidFill>
                            <a:schemeClr val="dk1"/>
                          </a:solidFill>
                          <a:effectLst/>
                          <a:latin typeface="+mn-lt"/>
                          <a:ea typeface="+mn-ea"/>
                          <a:cs typeface="+mn-cs"/>
                        </a:rPr>
                        <a:t>Providing tips</a:t>
                      </a:r>
                      <a:endParaRPr lang="ar-SY" dirty="0"/>
                    </a:p>
                  </a:txBody>
                  <a:tcPr/>
                </a:tc>
                <a:tc>
                  <a:txBody>
                    <a:bodyPr/>
                    <a:lstStyle/>
                    <a:p>
                      <a:pPr algn="l" rtl="1"/>
                      <a:r>
                        <a:rPr lang="en-US" sz="1800" b="0" i="0" kern="1200" dirty="0">
                          <a:solidFill>
                            <a:schemeClr val="dk1"/>
                          </a:solidFill>
                          <a:effectLst/>
                          <a:latin typeface="+mn-lt"/>
                          <a:ea typeface="+mn-ea"/>
                          <a:cs typeface="+mn-cs"/>
                        </a:rPr>
                        <a:t>Profile management</a:t>
                      </a:r>
                      <a:endParaRPr lang="ar-SY" dirty="0"/>
                    </a:p>
                  </a:txBody>
                  <a:tcPr/>
                </a:tc>
                <a:extLst>
                  <a:ext uri="{0D108BD9-81ED-4DB2-BD59-A6C34878D82A}">
                    <a16:rowId xmlns:a16="http://schemas.microsoft.com/office/drawing/2014/main" val="10005"/>
                  </a:ext>
                </a:extLst>
              </a:tr>
              <a:tr h="504056">
                <a:tc>
                  <a:txBody>
                    <a:bodyPr/>
                    <a:lstStyle/>
                    <a:p>
                      <a:pPr algn="l" rtl="1"/>
                      <a:r>
                        <a:rPr lang="en-US" sz="1800" b="0" i="0" kern="1200" dirty="0">
                          <a:solidFill>
                            <a:schemeClr val="dk1"/>
                          </a:solidFill>
                          <a:effectLst/>
                          <a:latin typeface="+mn-lt"/>
                          <a:ea typeface="+mn-ea"/>
                          <a:cs typeface="+mn-cs"/>
                        </a:rPr>
                        <a:t>Fasting mode</a:t>
                      </a:r>
                      <a:endParaRPr lang="ar-SY" dirty="0"/>
                    </a:p>
                  </a:txBody>
                  <a:tcPr/>
                </a:tc>
                <a:tc>
                  <a:txBody>
                    <a:bodyPr/>
                    <a:lstStyle/>
                    <a:p>
                      <a:pPr algn="l" rtl="1"/>
                      <a:r>
                        <a:rPr lang="en-US" sz="1800" b="0" i="0" kern="1200" dirty="0">
                          <a:solidFill>
                            <a:schemeClr val="dk1"/>
                          </a:solidFill>
                          <a:effectLst/>
                          <a:latin typeface="+mn-lt"/>
                          <a:ea typeface="+mn-ea"/>
                          <a:cs typeface="+mn-cs"/>
                        </a:rPr>
                        <a:t>Daily progress monitoring</a:t>
                      </a:r>
                      <a:endParaRPr lang="ar-SY" dirty="0"/>
                    </a:p>
                  </a:txBody>
                  <a:tcPr/>
                </a:tc>
                <a:extLst>
                  <a:ext uri="{0D108BD9-81ED-4DB2-BD59-A6C34878D82A}">
                    <a16:rowId xmlns:a16="http://schemas.microsoft.com/office/drawing/2014/main" val="10006"/>
                  </a:ext>
                </a:extLst>
              </a:tr>
              <a:tr h="576064">
                <a:tc>
                  <a:txBody>
                    <a:bodyPr/>
                    <a:lstStyle/>
                    <a:p>
                      <a:pPr algn="l" rtl="1"/>
                      <a:endParaRPr lang="ar-SY" dirty="0"/>
                    </a:p>
                  </a:txBody>
                  <a:tcPr/>
                </a:tc>
                <a:tc>
                  <a:txBody>
                    <a:bodyPr/>
                    <a:lstStyle/>
                    <a:p>
                      <a:pPr algn="l" rtl="1"/>
                      <a:r>
                        <a:rPr lang="en-US" dirty="0"/>
                        <a:t>Edit</a:t>
                      </a:r>
                      <a:r>
                        <a:rPr lang="en-US" baseline="0" dirty="0"/>
                        <a:t> previous entries  </a:t>
                      </a:r>
                      <a:endParaRPr lang="ar-SY"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9458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lvl="0" algn="l"/>
            <a:r>
              <a:rPr lang="en-US" sz="2800" dirty="0"/>
              <a:t>8-Non-Functional Requirements (NFR):</a:t>
            </a:r>
            <a:br>
              <a:rPr lang="en-US" sz="2800" dirty="0"/>
            </a:br>
            <a:endParaRPr lang="ar-SY" sz="2800"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3571046426"/>
              </p:ext>
            </p:extLst>
          </p:nvPr>
        </p:nvGraphicFramePr>
        <p:xfrm>
          <a:off x="457200" y="1700808"/>
          <a:ext cx="8229600" cy="3887336"/>
        </p:xfrm>
        <a:graphic>
          <a:graphicData uri="http://schemas.openxmlformats.org/drawingml/2006/table">
            <a:tbl>
              <a:tblPr rtl="1" firstRow="1" bandRow="1">
                <a:tableStyleId>{073A0DAA-6AF3-43AB-8588-CEC1D06C72B9}</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04056">
                <a:tc>
                  <a:txBody>
                    <a:bodyPr/>
                    <a:lstStyle/>
                    <a:p>
                      <a:pPr algn="ctr">
                        <a:lnSpc>
                          <a:spcPct val="115000"/>
                        </a:lnSpc>
                        <a:spcAft>
                          <a:spcPts val="0"/>
                        </a:spcAft>
                      </a:pPr>
                      <a:r>
                        <a:rPr lang="en-US" sz="1200" b="1" kern="100" dirty="0">
                          <a:effectLst/>
                          <a:latin typeface="Times New Roman"/>
                          <a:ea typeface="Calibri"/>
                          <a:cs typeface="Arial"/>
                        </a:rPr>
                        <a:t>R</a:t>
                      </a:r>
                      <a:r>
                        <a:rPr lang="en-US" sz="1800" b="1" kern="1200" dirty="0">
                          <a:solidFill>
                            <a:schemeClr val="lt1"/>
                          </a:solidFill>
                          <a:effectLst/>
                          <a:latin typeface="+mn-lt"/>
                          <a:ea typeface="+mn-ea"/>
                          <a:cs typeface="+mn-cs"/>
                        </a:rPr>
                        <a:t>equirement</a:t>
                      </a:r>
                    </a:p>
                  </a:txBody>
                  <a:tcPr marL="68580" marR="68580" marT="0" marB="0"/>
                </a:tc>
                <a:tc>
                  <a:txBody>
                    <a:bodyPr/>
                    <a:lstStyle/>
                    <a:p>
                      <a:pPr algn="ctr" rtl="1"/>
                      <a:r>
                        <a:rPr lang="en-US" sz="1800" b="1" kern="1200" dirty="0">
                          <a:solidFill>
                            <a:schemeClr val="lt1"/>
                          </a:solidFill>
                          <a:effectLst/>
                          <a:latin typeface="+mn-lt"/>
                          <a:ea typeface="+mn-ea"/>
                          <a:cs typeface="+mn-cs"/>
                        </a:rPr>
                        <a:t>Category</a:t>
                      </a:r>
                      <a:endParaRPr lang="ar-SY" dirty="0"/>
                    </a:p>
                  </a:txBody>
                  <a:tcPr/>
                </a:tc>
                <a:extLst>
                  <a:ext uri="{0D108BD9-81ED-4DB2-BD59-A6C34878D82A}">
                    <a16:rowId xmlns:a16="http://schemas.microsoft.com/office/drawing/2014/main" val="10000"/>
                  </a:ext>
                </a:extLst>
              </a:tr>
              <a:tr h="370840">
                <a:tc>
                  <a:txBody>
                    <a:bodyPr/>
                    <a:lstStyle/>
                    <a:p>
                      <a:pPr algn="l" rtl="1"/>
                      <a:r>
                        <a:rPr lang="en-US" dirty="0"/>
                        <a:t>Data synchronization and screen transitions must occur with a response time of &lt; 2 seconds.</a:t>
                      </a:r>
                      <a:endParaRPr lang="ar-SY" dirty="0"/>
                    </a:p>
                  </a:txBody>
                  <a:tcPr/>
                </a:tc>
                <a:tc>
                  <a:txBody>
                    <a:bodyPr/>
                    <a:lstStyle/>
                    <a:p>
                      <a:pPr algn="l" rtl="1"/>
                      <a:r>
                        <a:rPr lang="en-US" b="1" dirty="0"/>
                        <a:t>Performance</a:t>
                      </a:r>
                      <a:endParaRPr lang="ar-SY" b="1" dirty="0"/>
                    </a:p>
                  </a:txBody>
                  <a:tcPr/>
                </a:tc>
                <a:extLst>
                  <a:ext uri="{0D108BD9-81ED-4DB2-BD59-A6C34878D82A}">
                    <a16:rowId xmlns:a16="http://schemas.microsoft.com/office/drawing/2014/main" val="10001"/>
                  </a:ext>
                </a:extLst>
              </a:tr>
              <a:tr h="370840">
                <a:tc>
                  <a:txBody>
                    <a:bodyPr/>
                    <a:lstStyle/>
                    <a:p>
                      <a:pPr algn="l" rtl="1"/>
                      <a:r>
                        <a:rPr lang="en-US" dirty="0"/>
                        <a:t>User passwords must be hashed, and personal health data must be securely transmitted using HTTPS</a:t>
                      </a:r>
                      <a:endParaRPr lang="ar-SY" dirty="0"/>
                    </a:p>
                  </a:txBody>
                  <a:tcPr/>
                </a:tc>
                <a:tc>
                  <a:txBody>
                    <a:bodyPr/>
                    <a:lstStyle/>
                    <a:p>
                      <a:pPr marL="0" algn="l" defTabSz="914400" rtl="1" eaLnBrk="1" latinLnBrk="0" hangingPunct="1"/>
                      <a:r>
                        <a:rPr lang="en-US" sz="1800" b="1" kern="1200" dirty="0">
                          <a:solidFill>
                            <a:schemeClr val="dk1"/>
                          </a:solidFill>
                          <a:latin typeface="+mn-lt"/>
                          <a:ea typeface="+mn-ea"/>
                          <a:cs typeface="+mn-cs"/>
                        </a:rPr>
                        <a:t>Security</a:t>
                      </a:r>
                      <a:endParaRPr lang="ar-SY" sz="1800" b="1"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pPr algn="l" rtl="1"/>
                      <a:r>
                        <a:rPr lang="en-US" dirty="0"/>
                        <a:t>The UI must allow users to log their water intake in no more than 3 screen taps. </a:t>
                      </a:r>
                      <a:endParaRPr lang="ar-SY" dirty="0"/>
                    </a:p>
                  </a:txBody>
                  <a:tcPr/>
                </a:tc>
                <a:tc>
                  <a:txBody>
                    <a:bodyPr/>
                    <a:lstStyle/>
                    <a:p>
                      <a:pPr algn="l" rtl="1"/>
                      <a:r>
                        <a:rPr lang="en-US" sz="1800" b="1" kern="1200" dirty="0">
                          <a:solidFill>
                            <a:schemeClr val="dk1"/>
                          </a:solidFill>
                          <a:latin typeface="+mn-lt"/>
                          <a:ea typeface="+mn-ea"/>
                          <a:cs typeface="+mn-cs"/>
                        </a:rPr>
                        <a:t>Usability</a:t>
                      </a:r>
                      <a:endParaRPr lang="ar-SY" sz="1800" b="1"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pPr algn="l" rtl="1"/>
                      <a:r>
                        <a:rPr lang="en-US" dirty="0"/>
                        <a:t>The app must remain functional offline using SQLite, syncing automatically when reconnected.</a:t>
                      </a:r>
                      <a:endParaRPr lang="ar-SY" dirty="0"/>
                    </a:p>
                  </a:txBody>
                  <a:tcPr/>
                </a:tc>
                <a:tc>
                  <a:txBody>
                    <a:bodyPr/>
                    <a:lstStyle/>
                    <a:p>
                      <a:pPr algn="l" rtl="1"/>
                      <a:r>
                        <a:rPr lang="en-US" sz="1800" b="1" kern="1200" dirty="0">
                          <a:solidFill>
                            <a:schemeClr val="dk1"/>
                          </a:solidFill>
                          <a:latin typeface="+mn-lt"/>
                          <a:ea typeface="+mn-ea"/>
                          <a:cs typeface="+mn-cs"/>
                        </a:rPr>
                        <a:t>Reliability</a:t>
                      </a:r>
                      <a:r>
                        <a:rPr lang="en-US" dirty="0"/>
                        <a:t> </a:t>
                      </a:r>
                      <a:endParaRPr lang="ar-SY"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15927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pPr algn="l"/>
            <a:r>
              <a:rPr lang="en-US" sz="2800" dirty="0"/>
              <a:t>(Use case)</a:t>
            </a:r>
            <a:r>
              <a:rPr lang="ar-SY" sz="2800" dirty="0"/>
              <a:t>:</a:t>
            </a:r>
            <a:r>
              <a:rPr lang="en-US" sz="2800" dirty="0"/>
              <a:t>9-UML Diagrams </a:t>
            </a:r>
            <a:endParaRPr lang="ar-SY" sz="2800" dirty="0"/>
          </a:p>
        </p:txBody>
      </p:sp>
      <p:pic>
        <p:nvPicPr>
          <p:cNvPr id="7" name="عنصر نائب للمحتوى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1412776"/>
            <a:ext cx="6408712" cy="4968552"/>
          </a:xfrm>
        </p:spPr>
      </p:pic>
    </p:spTree>
    <p:extLst>
      <p:ext uri="{BB962C8B-B14F-4D97-AF65-F5344CB8AC3E}">
        <p14:creationId xmlns:p14="http://schemas.microsoft.com/office/powerpoint/2010/main" val="2877332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116632"/>
            <a:ext cx="8229600" cy="1084982"/>
          </a:xfrm>
        </p:spPr>
        <p:txBody>
          <a:bodyPr>
            <a:normAutofit/>
          </a:bodyPr>
          <a:lstStyle/>
          <a:p>
            <a:pPr algn="l"/>
            <a:r>
              <a:rPr lang="en-US" sz="2800" dirty="0"/>
              <a:t>10-Use Case : Log Water Intake</a:t>
            </a:r>
            <a:endParaRPr lang="ar-SY" sz="2800"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1024283587"/>
              </p:ext>
            </p:extLst>
          </p:nvPr>
        </p:nvGraphicFramePr>
        <p:xfrm>
          <a:off x="755576" y="908720"/>
          <a:ext cx="7344816" cy="5734302"/>
        </p:xfrm>
        <a:graphic>
          <a:graphicData uri="http://schemas.openxmlformats.org/drawingml/2006/table">
            <a:tbl>
              <a:tblPr firstRow="1" firstCol="1" bandRow="1">
                <a:tableStyleId>{073A0DAA-6AF3-43AB-8588-CEC1D06C72B9}</a:tableStyleId>
              </a:tblPr>
              <a:tblGrid>
                <a:gridCol w="1728192">
                  <a:extLst>
                    <a:ext uri="{9D8B030D-6E8A-4147-A177-3AD203B41FA5}">
                      <a16:colId xmlns:a16="http://schemas.microsoft.com/office/drawing/2014/main" val="20000"/>
                    </a:ext>
                  </a:extLst>
                </a:gridCol>
                <a:gridCol w="5616624">
                  <a:extLst>
                    <a:ext uri="{9D8B030D-6E8A-4147-A177-3AD203B41FA5}">
                      <a16:colId xmlns:a16="http://schemas.microsoft.com/office/drawing/2014/main" val="20001"/>
                    </a:ext>
                  </a:extLst>
                </a:gridCol>
              </a:tblGrid>
              <a:tr h="527991">
                <a:tc>
                  <a:txBody>
                    <a:bodyPr/>
                    <a:lstStyle/>
                    <a:p>
                      <a:pPr algn="l" rtl="0">
                        <a:lnSpc>
                          <a:spcPct val="115000"/>
                        </a:lnSpc>
                        <a:spcAft>
                          <a:spcPts val="2250"/>
                        </a:spcAft>
                      </a:pPr>
                      <a:r>
                        <a:rPr lang="en-US" sz="1200" dirty="0">
                          <a:effectLst/>
                        </a:rPr>
                        <a:t>Use Case Name</a:t>
                      </a:r>
                      <a:endParaRPr lang="en-US" sz="1200" dirty="0">
                        <a:effectLst/>
                        <a:latin typeface="Calibri"/>
                        <a:ea typeface="Calibri"/>
                        <a:cs typeface="Arial"/>
                      </a:endParaRPr>
                    </a:p>
                  </a:txBody>
                  <a:tcPr marL="81148" marR="81148" marT="81148" marB="81148" anchor="ctr"/>
                </a:tc>
                <a:tc>
                  <a:txBody>
                    <a:bodyPr/>
                    <a:lstStyle/>
                    <a:p>
                      <a:pPr algn="l" rtl="0">
                        <a:lnSpc>
                          <a:spcPct val="115000"/>
                        </a:lnSpc>
                        <a:spcAft>
                          <a:spcPts val="2250"/>
                        </a:spcAft>
                      </a:pPr>
                      <a:r>
                        <a:rPr lang="en-US" sz="1200" dirty="0">
                          <a:effectLst/>
                        </a:rPr>
                        <a:t>Log Water Intake</a:t>
                      </a:r>
                      <a:endParaRPr lang="en-US" sz="1200" dirty="0">
                        <a:effectLst/>
                        <a:latin typeface="Calibri"/>
                        <a:ea typeface="Calibri"/>
                        <a:cs typeface="Arial"/>
                      </a:endParaRPr>
                    </a:p>
                  </a:txBody>
                  <a:tcPr marL="81148" marR="81148" marT="81148" marB="81148" anchor="ctr"/>
                </a:tc>
                <a:extLst>
                  <a:ext uri="{0D108BD9-81ED-4DB2-BD59-A6C34878D82A}">
                    <a16:rowId xmlns:a16="http://schemas.microsoft.com/office/drawing/2014/main" val="10000"/>
                  </a:ext>
                </a:extLst>
              </a:tr>
              <a:tr h="341356">
                <a:tc>
                  <a:txBody>
                    <a:bodyPr/>
                    <a:lstStyle/>
                    <a:p>
                      <a:pPr algn="l" rtl="0">
                        <a:lnSpc>
                          <a:spcPct val="115000"/>
                        </a:lnSpc>
                        <a:spcAft>
                          <a:spcPts val="2250"/>
                        </a:spcAft>
                      </a:pPr>
                      <a:r>
                        <a:rPr lang="en-US" sz="1200" dirty="0">
                          <a:effectLst/>
                        </a:rPr>
                        <a:t>ID</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UC-08</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1"/>
                  </a:ext>
                </a:extLst>
              </a:tr>
              <a:tr h="334642">
                <a:tc>
                  <a:txBody>
                    <a:bodyPr/>
                    <a:lstStyle/>
                    <a:p>
                      <a:pPr algn="l" rtl="0">
                        <a:lnSpc>
                          <a:spcPct val="115000"/>
                        </a:lnSpc>
                        <a:spcAft>
                          <a:spcPts val="2250"/>
                        </a:spcAft>
                      </a:pPr>
                      <a:r>
                        <a:rPr lang="en-US" sz="1200" dirty="0">
                          <a:effectLst/>
                        </a:rPr>
                        <a:t>Actors</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User</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2"/>
                  </a:ext>
                </a:extLst>
              </a:tr>
              <a:tr h="539766">
                <a:tc>
                  <a:txBody>
                    <a:bodyPr/>
                    <a:lstStyle/>
                    <a:p>
                      <a:pPr algn="l" rtl="0">
                        <a:lnSpc>
                          <a:spcPct val="115000"/>
                        </a:lnSpc>
                        <a:spcAft>
                          <a:spcPts val="2250"/>
                        </a:spcAft>
                      </a:pPr>
                      <a:r>
                        <a:rPr lang="en-US" sz="1200" dirty="0">
                          <a:effectLst/>
                        </a:rPr>
                        <a:t>Description</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This use case allows the user to input the amount of water or liquids consumed, so the system can document it and calculate it within the user's specific daily goal.</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3"/>
                  </a:ext>
                </a:extLst>
              </a:tr>
              <a:tr h="341356">
                <a:tc>
                  <a:txBody>
                    <a:bodyPr/>
                    <a:lstStyle/>
                    <a:p>
                      <a:pPr algn="l" rtl="0">
                        <a:lnSpc>
                          <a:spcPct val="115000"/>
                        </a:lnSpc>
                        <a:spcAft>
                          <a:spcPts val="2250"/>
                        </a:spcAft>
                      </a:pPr>
                      <a:r>
                        <a:rPr lang="en-US" sz="1200" dirty="0">
                          <a:effectLst/>
                        </a:rPr>
                        <a:t>Preconditions</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User successfully logged into the application (UC-01).</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4"/>
                  </a:ext>
                </a:extLst>
              </a:tr>
              <a:tr h="1250259">
                <a:tc>
                  <a:txBody>
                    <a:bodyPr/>
                    <a:lstStyle/>
                    <a:p>
                      <a:pPr algn="l" rtl="0">
                        <a:lnSpc>
                          <a:spcPct val="115000"/>
                        </a:lnSpc>
                        <a:spcAft>
                          <a:spcPts val="2250"/>
                        </a:spcAft>
                      </a:pPr>
                      <a:r>
                        <a:rPr lang="en-US" sz="1200" dirty="0">
                          <a:effectLst/>
                        </a:rPr>
                        <a:t>Main Flow</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1. The user clicks the "Add Water" button on the main app interface.</a:t>
                      </a:r>
                      <a:br>
                        <a:rPr lang="en-US" sz="1100" dirty="0">
                          <a:effectLst/>
                        </a:rPr>
                      </a:br>
                      <a:r>
                        <a:rPr lang="en-US" sz="1100" dirty="0">
                          <a:effectLst/>
                        </a:rPr>
                        <a:t>2. The system displays options for default sizes (250ml cup, 500ml bottle).</a:t>
                      </a:r>
                      <a:br>
                        <a:rPr lang="en-US" sz="1100" dirty="0">
                          <a:effectLst/>
                        </a:rPr>
                      </a:br>
                      <a:r>
                        <a:rPr lang="en-US" sz="1100" dirty="0">
                          <a:effectLst/>
                        </a:rPr>
                        <a:t>3. The user selects the desired amount and confirms the entry.</a:t>
                      </a:r>
                      <a:br>
                        <a:rPr lang="en-US" sz="1100" dirty="0">
                          <a:effectLst/>
                        </a:rPr>
                      </a:br>
                      <a:r>
                        <a:rPr lang="en-US" sz="1100" dirty="0">
                          <a:effectLst/>
                        </a:rPr>
                        <a:t>4. The system receives the data and adds it to the daily total consumption.</a:t>
                      </a:r>
                      <a:br>
                        <a:rPr lang="en-US" sz="1100" dirty="0">
                          <a:effectLst/>
                        </a:rPr>
                      </a:br>
                      <a:r>
                        <a:rPr lang="en-US" sz="1100" dirty="0">
                          <a:effectLst/>
                        </a:rPr>
                        <a:t>5. The system saves the record in the database.</a:t>
                      </a:r>
                      <a:br>
                        <a:rPr lang="en-US" sz="1100" dirty="0">
                          <a:effectLst/>
                        </a:rPr>
                      </a:br>
                      <a:r>
                        <a:rPr lang="en-US" sz="1100" dirty="0">
                          <a:effectLst/>
                        </a:rPr>
                        <a:t>6. The system updates the progress indicator (Water Progress Ring) on the main screen.</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5"/>
                  </a:ext>
                </a:extLst>
              </a:tr>
              <a:tr h="1437721">
                <a:tc>
                  <a:txBody>
                    <a:bodyPr/>
                    <a:lstStyle/>
                    <a:p>
                      <a:pPr algn="l" rtl="0">
                        <a:lnSpc>
                          <a:spcPct val="115000"/>
                        </a:lnSpc>
                        <a:spcAft>
                          <a:spcPts val="2250"/>
                        </a:spcAft>
                      </a:pPr>
                      <a:r>
                        <a:rPr lang="en-US" sz="1200" dirty="0">
                          <a:effectLst/>
                        </a:rPr>
                        <a:t>Alternative Flows</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Extended Flow (Beverage Customization): Before confirming in step 3, the user selects the beverage type (e.g., coffee, tea). The system intervenes programmatically to calculate the actual hydration ratio (coffee is calculated at a lower percentage than pure water) and adds it to the goal.</a:t>
                      </a:r>
                      <a:br>
                        <a:rPr lang="en-US" sz="1100" dirty="0">
                          <a:effectLst/>
                        </a:rPr>
                      </a:br>
                      <a:br>
                        <a:rPr lang="en-US" sz="1100" dirty="0">
                          <a:effectLst/>
                        </a:rPr>
                      </a:br>
                      <a:r>
                        <a:rPr lang="en-US" sz="1100" dirty="0">
                          <a:effectLst/>
                        </a:rPr>
                        <a:t>Extended Flow (Shortcut): The user skips steps 1 and 2 by logging the water amount directly via a smartphone Widget, and the system executes steps 4 to 6 in the background.</a:t>
                      </a:r>
                      <a:br>
                        <a:rPr lang="en-US" sz="1100" dirty="0">
                          <a:effectLst/>
                        </a:rPr>
                      </a:br>
                      <a:br>
                        <a:rPr lang="en-US" sz="1100" dirty="0">
                          <a:effectLst/>
                        </a:rPr>
                      </a:br>
                      <a:r>
                        <a:rPr lang="en-US" sz="1100" dirty="0">
                          <a:effectLst/>
                        </a:rPr>
                        <a:t>Offline mode: Data is saved in SQLite to sync later.</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6"/>
                  </a:ext>
                </a:extLst>
              </a:tr>
              <a:tr h="411485">
                <a:tc>
                  <a:txBody>
                    <a:bodyPr/>
                    <a:lstStyle/>
                    <a:p>
                      <a:pPr algn="l" rtl="0">
                        <a:lnSpc>
                          <a:spcPct val="115000"/>
                        </a:lnSpc>
                        <a:spcAft>
                          <a:spcPts val="2250"/>
                        </a:spcAft>
                      </a:pPr>
                      <a:r>
                        <a:rPr lang="en-US" sz="1200" dirty="0" err="1">
                          <a:effectLst/>
                        </a:rPr>
                        <a:t>Postconditions</a:t>
                      </a:r>
                      <a:endParaRPr lang="en-US" sz="1200" dirty="0">
                        <a:effectLst/>
                        <a:latin typeface="Calibri"/>
                        <a:ea typeface="Calibri"/>
                        <a:cs typeface="Arial"/>
                      </a:endParaRPr>
                    </a:p>
                  </a:txBody>
                  <a:tcPr marL="67623" marR="67623" marT="67623" marB="67623" anchor="ctr"/>
                </a:tc>
                <a:tc>
                  <a:txBody>
                    <a:bodyPr/>
                    <a:lstStyle/>
                    <a:p>
                      <a:pPr algn="l" rtl="0">
                        <a:lnSpc>
                          <a:spcPct val="115000"/>
                        </a:lnSpc>
                        <a:spcAft>
                          <a:spcPts val="2250"/>
                        </a:spcAft>
                      </a:pPr>
                      <a:r>
                        <a:rPr lang="en-US" sz="1100" dirty="0">
                          <a:effectLst/>
                        </a:rPr>
                        <a:t>The total consumed fluids for the current day is increased, and the completion percentage in the progress monitoring interface is updated</a:t>
                      </a:r>
                      <a:endParaRPr lang="en-US" sz="1100" dirty="0">
                        <a:effectLst/>
                        <a:latin typeface="Calibri"/>
                        <a:ea typeface="Calibri"/>
                        <a:cs typeface="Arial"/>
                      </a:endParaRPr>
                    </a:p>
                  </a:txBody>
                  <a:tcPr marL="67623" marR="67623" marT="67623" marB="67623"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69918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4" y="188640"/>
            <a:ext cx="8229600" cy="1143000"/>
          </a:xfrm>
        </p:spPr>
        <p:txBody>
          <a:bodyPr>
            <a:normAutofit/>
          </a:bodyPr>
          <a:lstStyle/>
          <a:p>
            <a:pPr algn="l"/>
            <a:r>
              <a:rPr lang="en-US" sz="2800" dirty="0"/>
              <a:t>11-(Activity Diagram for Water intake log)</a:t>
            </a:r>
            <a:endParaRPr lang="ar-SY" sz="2800" dirty="0"/>
          </a:p>
        </p:txBody>
      </p:sp>
      <p:pic>
        <p:nvPicPr>
          <p:cNvPr id="6" name="عنصر نائب للمحتوى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1175856"/>
            <a:ext cx="5832648" cy="4950307"/>
          </a:xfrm>
        </p:spPr>
      </p:pic>
    </p:spTree>
    <p:extLst>
      <p:ext uri="{BB962C8B-B14F-4D97-AF65-F5344CB8AC3E}">
        <p14:creationId xmlns:p14="http://schemas.microsoft.com/office/powerpoint/2010/main" val="564743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12-Sequence Diagram </a:t>
            </a:r>
            <a:endParaRPr lang="ar-SY" sz="2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3395663"/>
            <a:ext cx="1800225" cy="6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عنصر نائب للمحتوى 10">
            <a:extLst>
              <a:ext uri="{FF2B5EF4-FFF2-40B4-BE49-F238E27FC236}">
                <a16:creationId xmlns:a16="http://schemas.microsoft.com/office/drawing/2014/main" id="{DEA6D0B0-AF32-9575-2CF8-6975FCF573D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7687" y="1484784"/>
            <a:ext cx="7848625" cy="4525963"/>
          </a:xfrm>
          <a:prstGeom prst="rect">
            <a:avLst/>
          </a:prstGeom>
        </p:spPr>
      </p:pic>
    </p:spTree>
    <p:extLst>
      <p:ext uri="{BB962C8B-B14F-4D97-AF65-F5344CB8AC3E}">
        <p14:creationId xmlns:p14="http://schemas.microsoft.com/office/powerpoint/2010/main" val="1618233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13-Database / Data Model</a:t>
            </a:r>
            <a:endParaRPr lang="ar-SY" sz="2800" dirty="0"/>
          </a:p>
        </p:txBody>
      </p:sp>
      <p:sp>
        <p:nvSpPr>
          <p:cNvPr id="3" name="عنصر نائب للمحتوى 2"/>
          <p:cNvSpPr>
            <a:spLocks noGrp="1"/>
          </p:cNvSpPr>
          <p:nvPr>
            <p:ph idx="1"/>
          </p:nvPr>
        </p:nvSpPr>
        <p:spPr>
          <a:xfrm>
            <a:off x="467544" y="1556792"/>
            <a:ext cx="8229600" cy="4525963"/>
          </a:xfrm>
        </p:spPr>
        <p:txBody>
          <a:bodyPr>
            <a:normAutofit/>
          </a:bodyPr>
          <a:lstStyle/>
          <a:p>
            <a:pPr marL="0" indent="0" algn="l">
              <a:buNone/>
            </a:pPr>
            <a:r>
              <a:rPr lang="en-US" sz="2200" b="1" dirty="0"/>
              <a:t>ERD:</a:t>
            </a:r>
            <a:endParaRPr lang="ar-SY" sz="2200" b="1" dirty="0"/>
          </a:p>
        </p:txBody>
      </p:sp>
      <p:pic>
        <p:nvPicPr>
          <p:cNvPr id="4" name="صورة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577786"/>
            <a:ext cx="9144000" cy="2651413"/>
          </a:xfrm>
          <a:prstGeom prst="rect">
            <a:avLst/>
          </a:prstGeom>
        </p:spPr>
      </p:pic>
    </p:spTree>
    <p:extLst>
      <p:ext uri="{BB962C8B-B14F-4D97-AF65-F5344CB8AC3E}">
        <p14:creationId xmlns:p14="http://schemas.microsoft.com/office/powerpoint/2010/main" val="3348320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ar-SA" sz="3100" dirty="0"/>
              <a:t>:</a:t>
            </a:r>
            <a:r>
              <a:rPr lang="en-US" sz="3100" dirty="0"/>
              <a:t>14-</a:t>
            </a:r>
            <a:r>
              <a:rPr lang="en-GB" sz="3100" dirty="0"/>
              <a:t>Database </a:t>
            </a:r>
            <a:r>
              <a:rPr lang="ar-SY" sz="3100" dirty="0" err="1"/>
              <a:t>schem</a:t>
            </a:r>
            <a:r>
              <a:rPr lang="en-US" sz="3100" dirty="0" err="1"/>
              <a:t>es</a:t>
            </a:r>
            <a:br>
              <a:rPr lang="ar-SY" dirty="0">
                <a:solidFill>
                  <a:schemeClr val="accent1">
                    <a:lumMod val="50000"/>
                  </a:schemeClr>
                </a:solidFill>
              </a:rPr>
            </a:br>
            <a:endParaRPr lang="ar-SY" dirty="0"/>
          </a:p>
        </p:txBody>
      </p:sp>
      <p:pic>
        <p:nvPicPr>
          <p:cNvPr id="4" name="عنصر نائب للمحتوى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788854"/>
            <a:ext cx="6768752" cy="5337309"/>
          </a:xfrm>
        </p:spPr>
      </p:pic>
    </p:spTree>
    <p:extLst>
      <p:ext uri="{BB962C8B-B14F-4D97-AF65-F5344CB8AC3E}">
        <p14:creationId xmlns:p14="http://schemas.microsoft.com/office/powerpoint/2010/main" val="197187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ar-SY" sz="3100" dirty="0"/>
              <a:t>:</a:t>
            </a:r>
            <a:r>
              <a:rPr lang="en-US" sz="3100" dirty="0"/>
              <a:t>15-Class Diagram</a:t>
            </a:r>
            <a:br>
              <a:rPr lang="ar-SY" dirty="0">
                <a:solidFill>
                  <a:schemeClr val="accent1">
                    <a:lumMod val="50000"/>
                  </a:schemeClr>
                </a:solidFill>
              </a:rPr>
            </a:br>
            <a:endParaRPr lang="ar-SY" dirty="0"/>
          </a:p>
        </p:txBody>
      </p:sp>
      <p:pic>
        <p:nvPicPr>
          <p:cNvPr id="4" name="عنصر نائب للمحتوى 3">
            <a:extLst>
              <a:ext uri="{FF2B5EF4-FFF2-40B4-BE49-F238E27FC236}">
                <a16:creationId xmlns:a16="http://schemas.microsoft.com/office/drawing/2014/main" id="{A93D3DA5-F1A6-72F3-F3FF-878FC8B00490}"/>
              </a:ext>
            </a:extLst>
          </p:cNvPr>
          <p:cNvPicPr>
            <a:picLocks noGrp="1" noChangeAspect="1"/>
          </p:cNvPicPr>
          <p:nvPr>
            <p:ph idx="1"/>
          </p:nvPr>
        </p:nvPicPr>
        <p:blipFill>
          <a:blip r:embed="rId2"/>
          <a:stretch>
            <a:fillRect/>
          </a:stretch>
        </p:blipFill>
        <p:spPr>
          <a:xfrm>
            <a:off x="457200" y="1412776"/>
            <a:ext cx="8229600" cy="4651881"/>
          </a:xfrm>
          <a:prstGeom prst="rect">
            <a:avLst/>
          </a:prstGeom>
        </p:spPr>
      </p:pic>
    </p:spTree>
    <p:extLst>
      <p:ext uri="{BB962C8B-B14F-4D97-AF65-F5344CB8AC3E}">
        <p14:creationId xmlns:p14="http://schemas.microsoft.com/office/powerpoint/2010/main" val="240275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pPr algn="l"/>
            <a:r>
              <a:rPr lang="ar-SY" sz="2800" dirty="0"/>
              <a:t>(</a:t>
            </a:r>
            <a:r>
              <a:rPr lang="en-US" sz="2800" dirty="0"/>
              <a:t>(Layered</a:t>
            </a:r>
            <a:r>
              <a:rPr lang="ar-SY" sz="2800" dirty="0"/>
              <a:t>:</a:t>
            </a:r>
            <a:r>
              <a:rPr lang="en-US" sz="2800" dirty="0"/>
              <a:t>16-System Architecture</a:t>
            </a:r>
            <a:endParaRPr lang="ar-SY" sz="2800" dirty="0"/>
          </a:p>
        </p:txBody>
      </p:sp>
      <p:pic>
        <p:nvPicPr>
          <p:cNvPr id="4" name="عنصر نائب للمحتوى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7664" y="1340768"/>
            <a:ext cx="5688632" cy="5138420"/>
          </a:xfrm>
        </p:spPr>
      </p:pic>
    </p:spTree>
    <p:extLst>
      <p:ext uri="{BB962C8B-B14F-4D97-AF65-F5344CB8AC3E}">
        <p14:creationId xmlns:p14="http://schemas.microsoft.com/office/powerpoint/2010/main" val="2777124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ar-SY" sz="2800" dirty="0"/>
              <a:t>( </a:t>
            </a:r>
            <a:r>
              <a:rPr lang="en-US" sz="2800" dirty="0"/>
              <a:t>login screen</a:t>
            </a:r>
            <a:r>
              <a:rPr lang="ar-SY" sz="2800" dirty="0"/>
              <a:t>)</a:t>
            </a:r>
            <a:r>
              <a:rPr lang="en-US" sz="2800" dirty="0"/>
              <a:t>1-17-</a:t>
            </a:r>
            <a:r>
              <a:rPr lang="ar-SY" sz="2800" dirty="0"/>
              <a:t>:</a:t>
            </a:r>
            <a:r>
              <a:rPr lang="en-US" sz="2800" dirty="0"/>
              <a:t>17-User Interface </a:t>
            </a:r>
            <a:endParaRPr lang="ar-SY" sz="2800" dirty="0"/>
          </a:p>
        </p:txBody>
      </p:sp>
      <p:pic>
        <p:nvPicPr>
          <p:cNvPr id="7" name="عنصر نائب للمحتوى 6">
            <a:extLst>
              <a:ext uri="{FF2B5EF4-FFF2-40B4-BE49-F238E27FC236}">
                <a16:creationId xmlns:a16="http://schemas.microsoft.com/office/drawing/2014/main" id="{493F8D2D-CA5E-0985-CF6A-770E57AEEF94}"/>
              </a:ext>
            </a:extLst>
          </p:cNvPr>
          <p:cNvPicPr>
            <a:picLocks noGrp="1" noChangeAspect="1"/>
          </p:cNvPicPr>
          <p:nvPr>
            <p:ph idx="1"/>
          </p:nvPr>
        </p:nvPicPr>
        <p:blipFill>
          <a:blip r:embed="rId2"/>
          <a:stretch>
            <a:fillRect/>
          </a:stretch>
        </p:blipFill>
        <p:spPr>
          <a:xfrm>
            <a:off x="560066" y="1124744"/>
            <a:ext cx="8023867" cy="5145435"/>
          </a:xfrm>
          <a:prstGeom prst="rect">
            <a:avLst/>
          </a:prstGeom>
        </p:spPr>
      </p:pic>
    </p:spTree>
    <p:extLst>
      <p:ext uri="{BB962C8B-B14F-4D97-AF65-F5344CB8AC3E}">
        <p14:creationId xmlns:p14="http://schemas.microsoft.com/office/powerpoint/2010/main" val="3755738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lvl="0" algn="l"/>
            <a:r>
              <a:rPr lang="ar-SA" sz="3100" dirty="0"/>
              <a:t>:</a:t>
            </a:r>
            <a:r>
              <a:rPr lang="en-US" sz="3100" dirty="0"/>
              <a:t>2-17-Upload / Input screen</a:t>
            </a:r>
            <a:br>
              <a:rPr lang="en-US" dirty="0"/>
            </a:br>
            <a:endParaRPr lang="ar-SY" dirty="0"/>
          </a:p>
        </p:txBody>
      </p:sp>
      <p:pic>
        <p:nvPicPr>
          <p:cNvPr id="6" name="عنصر نائب للمحتوى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7342" y="1045002"/>
            <a:ext cx="8105098" cy="5081162"/>
          </a:xfrm>
        </p:spPr>
      </p:pic>
    </p:spTree>
    <p:extLst>
      <p:ext uri="{BB962C8B-B14F-4D97-AF65-F5344CB8AC3E}">
        <p14:creationId xmlns:p14="http://schemas.microsoft.com/office/powerpoint/2010/main" val="2131964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lvl="0" algn="l"/>
            <a:r>
              <a:rPr lang="ar-SA" sz="3100" dirty="0"/>
              <a:t>:</a:t>
            </a:r>
            <a:r>
              <a:rPr lang="en-US" sz="3100" dirty="0"/>
              <a:t>3-17-Classification result with recommendation</a:t>
            </a:r>
            <a:br>
              <a:rPr lang="en-US" dirty="0"/>
            </a:br>
            <a:endParaRPr lang="ar-SY" dirty="0"/>
          </a:p>
        </p:txBody>
      </p:sp>
      <p:pic>
        <p:nvPicPr>
          <p:cNvPr id="4" name="عنصر نائب للمحتوى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268760"/>
            <a:ext cx="8844811" cy="4857403"/>
          </a:xfrm>
        </p:spPr>
      </p:pic>
    </p:spTree>
    <p:extLst>
      <p:ext uri="{BB962C8B-B14F-4D97-AF65-F5344CB8AC3E}">
        <p14:creationId xmlns:p14="http://schemas.microsoft.com/office/powerpoint/2010/main" val="3291842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2800" dirty="0"/>
              <a:t>18-Testing:</a:t>
            </a:r>
            <a:endParaRPr lang="ar-SY" sz="2800"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1439956050"/>
              </p:ext>
            </p:extLst>
          </p:nvPr>
        </p:nvGraphicFramePr>
        <p:xfrm>
          <a:off x="1187624" y="1412776"/>
          <a:ext cx="6624736" cy="4756924"/>
        </p:xfrm>
        <a:graphic>
          <a:graphicData uri="http://schemas.openxmlformats.org/drawingml/2006/table">
            <a:tbl>
              <a:tblPr firstRow="1" firstCol="1" bandRow="1">
                <a:tableStyleId>{073A0DAA-6AF3-43AB-8588-CEC1D06C72B9}</a:tableStyleId>
              </a:tblPr>
              <a:tblGrid>
                <a:gridCol w="165618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tblGrid>
              <a:tr h="702267">
                <a:tc>
                  <a:txBody>
                    <a:bodyPr/>
                    <a:lstStyle/>
                    <a:p>
                      <a:pPr algn="l" rtl="0">
                        <a:lnSpc>
                          <a:spcPct val="115000"/>
                        </a:lnSpc>
                        <a:spcAft>
                          <a:spcPts val="1000"/>
                        </a:spcAft>
                      </a:pPr>
                      <a:r>
                        <a:rPr lang="en-US" sz="1600" dirty="0">
                          <a:effectLst/>
                        </a:rPr>
                        <a:t>Test Case ID</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600" dirty="0">
                          <a:effectLst/>
                        </a:rPr>
                        <a:t>Description / Scenario</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600" dirty="0">
                          <a:effectLst/>
                        </a:rPr>
                        <a:t>Linked Requirement</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600" dirty="0">
                          <a:effectLst/>
                        </a:rPr>
                        <a:t>Expected Result</a:t>
                      </a:r>
                      <a:endParaRPr lang="en-US" sz="1600" dirty="0">
                        <a:effectLst/>
                        <a:latin typeface="Calibri"/>
                        <a:ea typeface="Calibri"/>
                        <a:cs typeface="Arial"/>
                      </a:endParaRPr>
                    </a:p>
                  </a:txBody>
                  <a:tcPr marL="76200" marR="76200" marT="76200" marB="76200" anchor="ctr"/>
                </a:tc>
                <a:extLst>
                  <a:ext uri="{0D108BD9-81ED-4DB2-BD59-A6C34878D82A}">
                    <a16:rowId xmlns:a16="http://schemas.microsoft.com/office/drawing/2014/main" val="10000"/>
                  </a:ext>
                </a:extLst>
              </a:tr>
              <a:tr h="1216394">
                <a:tc>
                  <a:txBody>
                    <a:bodyPr/>
                    <a:lstStyle/>
                    <a:p>
                      <a:pPr algn="l" rtl="0">
                        <a:lnSpc>
                          <a:spcPct val="115000"/>
                        </a:lnSpc>
                        <a:spcAft>
                          <a:spcPts val="1000"/>
                        </a:spcAft>
                      </a:pPr>
                      <a:r>
                        <a:rPr lang="en-US" sz="1600" dirty="0">
                          <a:effectLst/>
                        </a:rPr>
                        <a:t>TC-01</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User submits valid registration details.</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ID-01 (</a:t>
                      </a:r>
                      <a:r>
                        <a:rPr lang="en-US" sz="1400" dirty="0" err="1">
                          <a:effectLst/>
                        </a:rPr>
                        <a:t>Auth</a:t>
                      </a:r>
                      <a:r>
                        <a:rPr lang="en-US" sz="1400" dirty="0">
                          <a:effectLst/>
                        </a:rPr>
                        <a:t>)</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a:effectLst/>
                        </a:rPr>
                        <a:t>Account is created, and the user is redirected to the main dashboard.</a:t>
                      </a:r>
                      <a:endParaRPr lang="en-US" sz="1400">
                        <a:effectLst/>
                        <a:latin typeface="Calibri"/>
                        <a:ea typeface="Calibri"/>
                        <a:cs typeface="Arial"/>
                      </a:endParaRPr>
                    </a:p>
                  </a:txBody>
                  <a:tcPr marL="76200" marR="76200" marT="76200" marB="76200" anchor="ctr"/>
                </a:tc>
                <a:extLst>
                  <a:ext uri="{0D108BD9-81ED-4DB2-BD59-A6C34878D82A}">
                    <a16:rowId xmlns:a16="http://schemas.microsoft.com/office/drawing/2014/main" val="10001"/>
                  </a:ext>
                </a:extLst>
              </a:tr>
              <a:tr h="1216394">
                <a:tc>
                  <a:txBody>
                    <a:bodyPr/>
                    <a:lstStyle/>
                    <a:p>
                      <a:pPr algn="l" rtl="0">
                        <a:lnSpc>
                          <a:spcPct val="115000"/>
                        </a:lnSpc>
                        <a:spcAft>
                          <a:spcPts val="1000"/>
                        </a:spcAft>
                      </a:pPr>
                      <a:r>
                        <a:rPr lang="en-US" sz="1600" dirty="0">
                          <a:effectLst/>
                        </a:rPr>
                        <a:t>TC-02</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User updates daily water and sleep goals.</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ID-02 (Profile)</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System recalculates daily targets and updates the progress rings immediately.</a:t>
                      </a:r>
                      <a:endParaRPr lang="en-US" sz="1400" dirty="0">
                        <a:effectLst/>
                        <a:latin typeface="Calibri"/>
                        <a:ea typeface="Calibri"/>
                        <a:cs typeface="Arial"/>
                      </a:endParaRPr>
                    </a:p>
                  </a:txBody>
                  <a:tcPr marL="76200" marR="76200" marT="76200" marB="76200" anchor="ctr"/>
                </a:tc>
                <a:extLst>
                  <a:ext uri="{0D108BD9-81ED-4DB2-BD59-A6C34878D82A}">
                    <a16:rowId xmlns:a16="http://schemas.microsoft.com/office/drawing/2014/main" val="10002"/>
                  </a:ext>
                </a:extLst>
              </a:tr>
              <a:tr h="1473457">
                <a:tc>
                  <a:txBody>
                    <a:bodyPr/>
                    <a:lstStyle/>
                    <a:p>
                      <a:pPr algn="l" rtl="0">
                        <a:lnSpc>
                          <a:spcPct val="115000"/>
                        </a:lnSpc>
                        <a:spcAft>
                          <a:spcPts val="1000"/>
                        </a:spcAft>
                      </a:pPr>
                      <a:r>
                        <a:rPr lang="en-US" sz="1600" dirty="0">
                          <a:effectLst/>
                        </a:rPr>
                        <a:t>TC-03</a:t>
                      </a:r>
                      <a:endParaRPr lang="en-US" sz="16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User logs 250ml of a caffeinated beverage.</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ID-03 (Hydration)</a:t>
                      </a:r>
                      <a:endParaRPr lang="en-US" sz="1400" dirty="0">
                        <a:effectLst/>
                        <a:latin typeface="Calibri"/>
                        <a:ea typeface="Calibri"/>
                        <a:cs typeface="Arial"/>
                      </a:endParaRPr>
                    </a:p>
                  </a:txBody>
                  <a:tcPr marL="76200" marR="76200" marT="76200" marB="76200" anchor="ctr"/>
                </a:tc>
                <a:tc>
                  <a:txBody>
                    <a:bodyPr/>
                    <a:lstStyle/>
                    <a:p>
                      <a:pPr algn="l" rtl="0">
                        <a:lnSpc>
                          <a:spcPct val="115000"/>
                        </a:lnSpc>
                        <a:spcAft>
                          <a:spcPts val="1000"/>
                        </a:spcAft>
                      </a:pPr>
                      <a:r>
                        <a:rPr lang="en-US" sz="1400" dirty="0">
                          <a:effectLst/>
                        </a:rPr>
                        <a:t>System applies the specific hydration multiplier and adds the net value to the daily progress.</a:t>
                      </a:r>
                      <a:endParaRPr lang="en-US" sz="1400" dirty="0">
                        <a:effectLst/>
                        <a:latin typeface="Calibri"/>
                        <a:ea typeface="Calibri"/>
                        <a:cs typeface="Arial"/>
                      </a:endParaRPr>
                    </a:p>
                  </a:txBody>
                  <a:tcPr marL="76200" marR="76200" marT="76200" marB="762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68433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467543" y="-243408"/>
            <a:ext cx="8229600" cy="1143000"/>
          </a:xfrm>
        </p:spPr>
        <p:txBody>
          <a:bodyPr>
            <a:normAutofit/>
          </a:bodyPr>
          <a:lstStyle/>
          <a:p>
            <a:pPr algn="l"/>
            <a:r>
              <a:rPr lang="ar-SA" sz="2800" dirty="0"/>
              <a:t>:</a:t>
            </a:r>
            <a:r>
              <a:rPr lang="en-US" sz="2800" dirty="0"/>
              <a:t>19-Requirements Traceability Matrix (RTM)</a:t>
            </a:r>
            <a:endParaRPr lang="ar-SY" sz="2800" dirty="0"/>
          </a:p>
        </p:txBody>
      </p:sp>
      <p:graphicFrame>
        <p:nvGraphicFramePr>
          <p:cNvPr id="4" name="عنصر نائب للمحتوى 3"/>
          <p:cNvGraphicFramePr>
            <a:graphicFrameLocks noGrp="1"/>
          </p:cNvGraphicFramePr>
          <p:nvPr>
            <p:ph idx="1"/>
            <p:extLst>
              <p:ext uri="{D42A27DB-BD31-4B8C-83A1-F6EECF244321}">
                <p14:modId xmlns:p14="http://schemas.microsoft.com/office/powerpoint/2010/main" val="2922365892"/>
              </p:ext>
            </p:extLst>
          </p:nvPr>
        </p:nvGraphicFramePr>
        <p:xfrm>
          <a:off x="935594" y="620688"/>
          <a:ext cx="7272811" cy="6038545"/>
        </p:xfrm>
        <a:graphic>
          <a:graphicData uri="http://schemas.openxmlformats.org/drawingml/2006/table">
            <a:tbl>
              <a:tblPr firstRow="1" firstCol="1" bandRow="1">
                <a:tableStyleId>{073A0DAA-6AF3-43AB-8588-CEC1D06C72B9}</a:tableStyleId>
              </a:tblPr>
              <a:tblGrid>
                <a:gridCol w="1038973">
                  <a:extLst>
                    <a:ext uri="{9D8B030D-6E8A-4147-A177-3AD203B41FA5}">
                      <a16:colId xmlns:a16="http://schemas.microsoft.com/office/drawing/2014/main" val="20000"/>
                    </a:ext>
                  </a:extLst>
                </a:gridCol>
                <a:gridCol w="1038973">
                  <a:extLst>
                    <a:ext uri="{9D8B030D-6E8A-4147-A177-3AD203B41FA5}">
                      <a16:colId xmlns:a16="http://schemas.microsoft.com/office/drawing/2014/main" val="20001"/>
                    </a:ext>
                  </a:extLst>
                </a:gridCol>
                <a:gridCol w="1038973">
                  <a:extLst>
                    <a:ext uri="{9D8B030D-6E8A-4147-A177-3AD203B41FA5}">
                      <a16:colId xmlns:a16="http://schemas.microsoft.com/office/drawing/2014/main" val="20002"/>
                    </a:ext>
                  </a:extLst>
                </a:gridCol>
                <a:gridCol w="1038973">
                  <a:extLst>
                    <a:ext uri="{9D8B030D-6E8A-4147-A177-3AD203B41FA5}">
                      <a16:colId xmlns:a16="http://schemas.microsoft.com/office/drawing/2014/main" val="20003"/>
                    </a:ext>
                  </a:extLst>
                </a:gridCol>
                <a:gridCol w="1038973">
                  <a:extLst>
                    <a:ext uri="{9D8B030D-6E8A-4147-A177-3AD203B41FA5}">
                      <a16:colId xmlns:a16="http://schemas.microsoft.com/office/drawing/2014/main" val="20004"/>
                    </a:ext>
                  </a:extLst>
                </a:gridCol>
                <a:gridCol w="1038973">
                  <a:extLst>
                    <a:ext uri="{9D8B030D-6E8A-4147-A177-3AD203B41FA5}">
                      <a16:colId xmlns:a16="http://schemas.microsoft.com/office/drawing/2014/main" val="20005"/>
                    </a:ext>
                  </a:extLst>
                </a:gridCol>
                <a:gridCol w="1038973">
                  <a:extLst>
                    <a:ext uri="{9D8B030D-6E8A-4147-A177-3AD203B41FA5}">
                      <a16:colId xmlns:a16="http://schemas.microsoft.com/office/drawing/2014/main" val="20006"/>
                    </a:ext>
                  </a:extLst>
                </a:gridCol>
              </a:tblGrid>
              <a:tr h="700303">
                <a:tc>
                  <a:txBody>
                    <a:bodyPr/>
                    <a:lstStyle/>
                    <a:p>
                      <a:pPr algn="l" rtl="0">
                        <a:lnSpc>
                          <a:spcPct val="115000"/>
                        </a:lnSpc>
                        <a:spcAft>
                          <a:spcPts val="1000"/>
                        </a:spcAft>
                      </a:pPr>
                      <a:r>
                        <a:rPr lang="en-US" sz="1800" dirty="0" err="1">
                          <a:effectLst/>
                        </a:rPr>
                        <a:t>Req</a:t>
                      </a:r>
                      <a:r>
                        <a:rPr lang="en-US" sz="1800" dirty="0">
                          <a:effectLst/>
                        </a:rPr>
                        <a:t> ID</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Requirement Description</a:t>
                      </a:r>
                      <a:endParaRPr lang="en-US" sz="16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Use Case</a:t>
                      </a:r>
                      <a:endParaRPr lang="en-US" sz="16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Design</a:t>
                      </a:r>
                      <a:endParaRPr lang="en-US" sz="16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Design Description</a:t>
                      </a:r>
                      <a:endParaRPr lang="en-US" sz="16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Implementation</a:t>
                      </a:r>
                      <a:endParaRPr lang="en-US" sz="16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600" dirty="0">
                          <a:effectLst/>
                        </a:rPr>
                        <a:t>Test Case ID</a:t>
                      </a:r>
                      <a:endParaRPr lang="en-US" sz="1600" dirty="0">
                        <a:effectLst/>
                        <a:latin typeface="Calibri"/>
                        <a:ea typeface="Calibri"/>
                        <a:cs typeface="Arial"/>
                      </a:endParaRPr>
                    </a:p>
                  </a:txBody>
                  <a:tcPr marL="60553" marR="60553" marT="60553" marB="60553" anchor="ctr"/>
                </a:tc>
                <a:extLst>
                  <a:ext uri="{0D108BD9-81ED-4DB2-BD59-A6C34878D82A}">
                    <a16:rowId xmlns:a16="http://schemas.microsoft.com/office/drawing/2014/main" val="10000"/>
                  </a:ext>
                </a:extLst>
              </a:tr>
              <a:tr h="840697">
                <a:tc>
                  <a:txBody>
                    <a:bodyPr/>
                    <a:lstStyle/>
                    <a:p>
                      <a:pPr algn="l" rtl="0">
                        <a:lnSpc>
                          <a:spcPct val="115000"/>
                        </a:lnSpc>
                        <a:spcAft>
                          <a:spcPts val="1000"/>
                        </a:spcAft>
                      </a:pPr>
                      <a:r>
                        <a:rPr lang="en-US" sz="1800" dirty="0">
                          <a:effectLst/>
                        </a:rPr>
                        <a:t>ID-01</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User authentication and account creation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Login &amp; Sign up Use Case</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Auth UI Design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User enters email and password to log in</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Auth Module Developed</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TC-01</a:t>
                      </a:r>
                      <a:endParaRPr lang="en-US" sz="1200">
                        <a:effectLst/>
                        <a:latin typeface="Calibri"/>
                        <a:ea typeface="Calibri"/>
                        <a:cs typeface="Arial"/>
                      </a:endParaRPr>
                    </a:p>
                  </a:txBody>
                  <a:tcPr marL="60553" marR="60553" marT="60553" marB="60553" anchor="ctr"/>
                </a:tc>
                <a:extLst>
                  <a:ext uri="{0D108BD9-81ED-4DB2-BD59-A6C34878D82A}">
                    <a16:rowId xmlns:a16="http://schemas.microsoft.com/office/drawing/2014/main" val="10001"/>
                  </a:ext>
                </a:extLst>
              </a:tr>
              <a:tr h="840697">
                <a:tc>
                  <a:txBody>
                    <a:bodyPr/>
                    <a:lstStyle/>
                    <a:p>
                      <a:pPr algn="l" rtl="0">
                        <a:lnSpc>
                          <a:spcPct val="115000"/>
                        </a:lnSpc>
                        <a:spcAft>
                          <a:spcPts val="1000"/>
                        </a:spcAft>
                      </a:pPr>
                      <a:r>
                        <a:rPr lang="en-US" sz="1800" dirty="0">
                          <a:effectLst/>
                        </a:rPr>
                        <a:t>ID-02</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Update personal health data and goals</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Profile Management Use Case</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Profile Settings Design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User inputs weight and sleep targets</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Profile Module Developed</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TC-02</a:t>
                      </a:r>
                      <a:endParaRPr lang="en-US" sz="1200">
                        <a:effectLst/>
                        <a:latin typeface="Calibri"/>
                        <a:ea typeface="Calibri"/>
                        <a:cs typeface="Arial"/>
                      </a:endParaRPr>
                    </a:p>
                  </a:txBody>
                  <a:tcPr marL="60553" marR="60553" marT="60553" marB="60553" anchor="ctr"/>
                </a:tc>
                <a:extLst>
                  <a:ext uri="{0D108BD9-81ED-4DB2-BD59-A6C34878D82A}">
                    <a16:rowId xmlns:a16="http://schemas.microsoft.com/office/drawing/2014/main" val="10002"/>
                  </a:ext>
                </a:extLst>
              </a:tr>
              <a:tr h="981090">
                <a:tc>
                  <a:txBody>
                    <a:bodyPr/>
                    <a:lstStyle/>
                    <a:p>
                      <a:pPr algn="l" rtl="0">
                        <a:lnSpc>
                          <a:spcPct val="115000"/>
                        </a:lnSpc>
                        <a:spcAft>
                          <a:spcPts val="1000"/>
                        </a:spcAft>
                      </a:pPr>
                      <a:r>
                        <a:rPr lang="en-US" sz="1800" dirty="0">
                          <a:effectLst/>
                        </a:rPr>
                        <a:t>ID-03</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Log consumed beverages with hydration factors</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Log Water Intake Use Case</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Dashboard UI Design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Calculate net hydration based on drink type</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Hydration Service Developed</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TC-03</a:t>
                      </a:r>
                      <a:endParaRPr lang="en-US" sz="1200">
                        <a:effectLst/>
                        <a:latin typeface="Calibri"/>
                        <a:ea typeface="Calibri"/>
                        <a:cs typeface="Arial"/>
                      </a:endParaRPr>
                    </a:p>
                  </a:txBody>
                  <a:tcPr marL="60553" marR="60553" marT="60553" marB="60553" anchor="ctr"/>
                </a:tc>
                <a:extLst>
                  <a:ext uri="{0D108BD9-81ED-4DB2-BD59-A6C34878D82A}">
                    <a16:rowId xmlns:a16="http://schemas.microsoft.com/office/drawing/2014/main" val="10003"/>
                  </a:ext>
                </a:extLst>
              </a:tr>
              <a:tr h="861132">
                <a:tc>
                  <a:txBody>
                    <a:bodyPr/>
                    <a:lstStyle/>
                    <a:p>
                      <a:pPr algn="l" rtl="0">
                        <a:lnSpc>
                          <a:spcPct val="115000"/>
                        </a:lnSpc>
                        <a:spcAft>
                          <a:spcPts val="1000"/>
                        </a:spcAft>
                      </a:pPr>
                      <a:r>
                        <a:rPr lang="en-US" sz="1800" dirty="0">
                          <a:effectLst/>
                        </a:rPr>
                        <a:t>ID-04</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Modify or delete past entries</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Edit Previous Entries Use Case</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History Log Design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User can edit or remove past data logs</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Data Management Module Developed</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TC-04</a:t>
                      </a:r>
                      <a:endParaRPr lang="en-US" sz="1200">
                        <a:effectLst/>
                        <a:latin typeface="Calibri"/>
                        <a:ea typeface="Calibri"/>
                        <a:cs typeface="Arial"/>
                      </a:endParaRPr>
                    </a:p>
                  </a:txBody>
                  <a:tcPr marL="60553" marR="60553" marT="60553" marB="60553" anchor="ctr"/>
                </a:tc>
                <a:extLst>
                  <a:ext uri="{0D108BD9-81ED-4DB2-BD59-A6C34878D82A}">
                    <a16:rowId xmlns:a16="http://schemas.microsoft.com/office/drawing/2014/main" val="10004"/>
                  </a:ext>
                </a:extLst>
              </a:tr>
              <a:tr h="981090">
                <a:tc>
                  <a:txBody>
                    <a:bodyPr/>
                    <a:lstStyle/>
                    <a:p>
                      <a:pPr algn="l" rtl="0">
                        <a:lnSpc>
                          <a:spcPct val="115000"/>
                        </a:lnSpc>
                        <a:spcAft>
                          <a:spcPts val="1000"/>
                        </a:spcAft>
                      </a:pPr>
                      <a:r>
                        <a:rPr lang="en-US" sz="1800" dirty="0">
                          <a:effectLst/>
                        </a:rPr>
                        <a:t>ID-05</a:t>
                      </a:r>
                      <a:endParaRPr lang="en-US" sz="18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Pause daytime notifications during fasting</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a:effectLst/>
                        </a:rPr>
                        <a:t>Fasting Mode Use Case</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Notification Control Design</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a:effectLst/>
                        </a:rPr>
                        <a:t>Silence alerts based on specific timeframes</a:t>
                      </a:r>
                      <a:endParaRPr lang="en-US" sz="120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dirty="0">
                          <a:effectLst/>
                        </a:rPr>
                        <a:t>Notification Scheduler Developed</a:t>
                      </a:r>
                      <a:endParaRPr lang="en-US" sz="1200" dirty="0">
                        <a:effectLst/>
                        <a:latin typeface="Calibri"/>
                        <a:ea typeface="Calibri"/>
                        <a:cs typeface="Arial"/>
                      </a:endParaRPr>
                    </a:p>
                  </a:txBody>
                  <a:tcPr marL="60553" marR="60553" marT="60553" marB="60553" anchor="ctr"/>
                </a:tc>
                <a:tc>
                  <a:txBody>
                    <a:bodyPr/>
                    <a:lstStyle/>
                    <a:p>
                      <a:pPr algn="l" rtl="0">
                        <a:lnSpc>
                          <a:spcPct val="115000"/>
                        </a:lnSpc>
                        <a:spcAft>
                          <a:spcPts val="1000"/>
                        </a:spcAft>
                      </a:pPr>
                      <a:r>
                        <a:rPr lang="en-US" sz="1200" u="sng" dirty="0">
                          <a:effectLst/>
                        </a:rPr>
                        <a:t>TC-05</a:t>
                      </a:r>
                      <a:endParaRPr lang="en-US" sz="1200" dirty="0">
                        <a:effectLst/>
                        <a:latin typeface="Calibri"/>
                        <a:ea typeface="Calibri"/>
                        <a:cs typeface="Arial"/>
                      </a:endParaRPr>
                    </a:p>
                  </a:txBody>
                  <a:tcPr marL="60553" marR="60553" marT="60553" marB="60553"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88298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ar-SA" sz="2800" dirty="0"/>
              <a:t>:</a:t>
            </a:r>
            <a:r>
              <a:rPr lang="en-US" sz="2800" dirty="0"/>
              <a:t>20-Conclusion &amp; Future Work</a:t>
            </a:r>
            <a:endParaRPr lang="ar-SY" sz="2800" dirty="0"/>
          </a:p>
        </p:txBody>
      </p:sp>
      <p:sp>
        <p:nvSpPr>
          <p:cNvPr id="3" name="عنصر نائب للمحتوى 2"/>
          <p:cNvSpPr>
            <a:spLocks noGrp="1"/>
          </p:cNvSpPr>
          <p:nvPr>
            <p:ph idx="1"/>
          </p:nvPr>
        </p:nvSpPr>
        <p:spPr/>
        <p:txBody>
          <a:bodyPr/>
          <a:lstStyle/>
          <a:p>
            <a:pPr marL="0" indent="0" algn="l">
              <a:buNone/>
            </a:pPr>
            <a:r>
              <a:rPr lang="en-US" sz="2000" b="1" i="1" dirty="0"/>
              <a:t>Project Accomplishments Summary :</a:t>
            </a:r>
            <a:r>
              <a:rPr lang="en-US" sz="1800" dirty="0"/>
              <a:t>We successfully designed and built a highly efficient, production ready, multi-platform health ecosystem. The solution provides users with deep physiological insights while maintaining structural simplicity.</a:t>
            </a:r>
          </a:p>
          <a:p>
            <a:pPr marL="0" indent="0" algn="l">
              <a:buNone/>
            </a:pPr>
            <a:endParaRPr lang="en-US" sz="1800" dirty="0"/>
          </a:p>
          <a:p>
            <a:pPr marL="0" indent="0" algn="l">
              <a:buNone/>
            </a:pPr>
            <a:r>
              <a:rPr lang="en-US" sz="2000" b="1" i="1" dirty="0"/>
              <a:t>Future Work : </a:t>
            </a:r>
            <a:r>
              <a:rPr lang="en-US" sz="2000" dirty="0"/>
              <a:t>Diet and Nutrition Module: Expanding the tracking capabilities beyond water and sleep to include daily caloric intake and macro nutrient distribution. </a:t>
            </a:r>
            <a:endParaRPr lang="ar-SY" sz="2000" b="1" i="1" dirty="0"/>
          </a:p>
        </p:txBody>
      </p:sp>
    </p:spTree>
    <p:extLst>
      <p:ext uri="{BB962C8B-B14F-4D97-AF65-F5344CB8AC3E}">
        <p14:creationId xmlns:p14="http://schemas.microsoft.com/office/powerpoint/2010/main" val="1260483737"/>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TotalTime>
  <Words>1543</Words>
  <Application>Microsoft Office PowerPoint</Application>
  <PresentationFormat>عرض على الشاشة (4:3)</PresentationFormat>
  <Paragraphs>183</Paragraphs>
  <Slides>24</Slides>
  <Notes>0</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24</vt:i4>
      </vt:variant>
    </vt:vector>
  </HeadingPairs>
  <TitlesOfParts>
    <vt:vector size="28" baseType="lpstr">
      <vt:lpstr>Arial</vt:lpstr>
      <vt:lpstr>Calibri</vt:lpstr>
      <vt:lpstr>Times New Roman</vt:lpstr>
      <vt:lpstr>نسق Office</vt:lpstr>
      <vt:lpstr> Syrian Private University Department of Software Engineering and  Intelligent Systems  </vt:lpstr>
      <vt:lpstr>1- Abstract/Introduction</vt:lpstr>
      <vt:lpstr>2-Problem Statement &amp; Objectives </vt:lpstr>
      <vt:lpstr>1-2-Objective:</vt:lpstr>
      <vt:lpstr>3-Project Scope, Constraints, and Assumptions </vt:lpstr>
      <vt:lpstr>4-Related Work &amp; Research Gap </vt:lpstr>
      <vt:lpstr>5-Development Methodology &amp; Project Plan</vt:lpstr>
      <vt:lpstr>6-Project Timeline (Gantt Chart) </vt:lpstr>
      <vt:lpstr>7-Functional Requirements (FR):</vt:lpstr>
      <vt:lpstr>8-Non-Functional Requirements (NFR): </vt:lpstr>
      <vt:lpstr>(Use case):9-UML Diagrams </vt:lpstr>
      <vt:lpstr>10-Use Case : Log Water Intake</vt:lpstr>
      <vt:lpstr>11-(Activity Diagram for Water intake log)</vt:lpstr>
      <vt:lpstr>12-Sequence Diagram </vt:lpstr>
      <vt:lpstr>13-Database / Data Model</vt:lpstr>
      <vt:lpstr>:14-Database schemes </vt:lpstr>
      <vt:lpstr>:15-Class Diagram </vt:lpstr>
      <vt:lpstr>((Layered:16-System Architecture</vt:lpstr>
      <vt:lpstr>( login screen)1-17-:17-User Interface </vt:lpstr>
      <vt:lpstr>:2-17-Upload / Input screen </vt:lpstr>
      <vt:lpstr>:3-17-Classification result with recommendation </vt:lpstr>
      <vt:lpstr>18-Testing:</vt:lpstr>
      <vt:lpstr>:19-Requirements Traceability Matrix (RTM)</vt:lpstr>
      <vt:lpstr>:20-Conclusion &amp; Future Work</vt:lpstr>
    </vt:vector>
  </TitlesOfParts>
  <Company>Ahmed-Under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Syrian Private University Department of Software Engineering and  Intelligent Systems</dc:title>
  <dc:creator>yasser</dc:creator>
  <cp:lastModifiedBy>malek essa</cp:lastModifiedBy>
  <cp:revision>27</cp:revision>
  <dcterms:created xsi:type="dcterms:W3CDTF">2026-06-01T15:48:43Z</dcterms:created>
  <dcterms:modified xsi:type="dcterms:W3CDTF">2026-06-02T10:17:23Z</dcterms:modified>
</cp:coreProperties>
</file>